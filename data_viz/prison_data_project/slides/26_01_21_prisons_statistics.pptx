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4"/>
  </p:notesMasterIdLst>
  <p:sldIdLst>
    <p:sldId id="258" r:id="rId2"/>
    <p:sldId id="263" r:id="rId3"/>
    <p:sldId id="264" r:id="rId4"/>
    <p:sldId id="285" r:id="rId5"/>
    <p:sldId id="265" r:id="rId6"/>
    <p:sldId id="268" r:id="rId7"/>
    <p:sldId id="279" r:id="rId8"/>
    <p:sldId id="282" r:id="rId9"/>
    <p:sldId id="283" r:id="rId10"/>
    <p:sldId id="284" r:id="rId11"/>
    <p:sldId id="277" r:id="rId12"/>
    <p:sldId id="271" r:id="rId13"/>
  </p:sldIdLst>
  <p:sldSz cx="9144000" cy="5143500" type="screen16x9"/>
  <p:notesSz cx="6858000" cy="9144000"/>
  <p:embeddedFontLst>
    <p:embeddedFont>
      <p:font typeface="Lekton" panose="020B0604020202020204" charset="0"/>
      <p:regular r:id="rId15"/>
      <p:bold r:id="rId16"/>
      <p:italic r:id="rId17"/>
    </p:embeddedFont>
    <p:embeddedFont>
      <p:font typeface="Titillium Web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386">
          <p15:clr>
            <a:srgbClr val="A4A3A4"/>
          </p15:clr>
        </p15:guide>
        <p15:guide id="2" pos="2098">
          <p15:clr>
            <a:srgbClr val="A4A3A4"/>
          </p15:clr>
        </p15:guide>
        <p15:guide id="3" pos="2324">
          <p15:clr>
            <a:srgbClr val="A4A3A4"/>
          </p15:clr>
        </p15:guide>
        <p15:guide id="4" pos="340">
          <p15:clr>
            <a:srgbClr val="A4A3A4"/>
          </p15:clr>
        </p15:guide>
        <p15:guide id="5" pos="2977">
          <p15:clr>
            <a:srgbClr val="A4A3A4"/>
          </p15:clr>
        </p15:guide>
        <p15:guide id="6" orient="horz" pos="737">
          <p15:clr>
            <a:srgbClr val="A4A3A4"/>
          </p15:clr>
        </p15:guide>
        <p15:guide id="7" orient="horz" pos="3005">
          <p15:clr>
            <a:srgbClr val="A4A3A4"/>
          </p15:clr>
        </p15:guide>
        <p15:guide id="8" orient="horz" pos="1757">
          <p15:clr>
            <a:srgbClr val="A4A3A4"/>
          </p15:clr>
        </p15:guide>
        <p15:guide id="9" orient="horz" pos="542">
          <p15:clr>
            <a:srgbClr val="A4A3A4"/>
          </p15:clr>
        </p15:guide>
        <p15:guide id="10" orient="horz" pos="10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754" y="101"/>
      </p:cViewPr>
      <p:guideLst>
        <p:guide pos="5386"/>
        <p:guide pos="2098"/>
        <p:guide pos="2324"/>
        <p:guide pos="340"/>
        <p:guide pos="2977"/>
        <p:guide orient="horz" pos="737"/>
        <p:guide orient="horz" pos="3005"/>
        <p:guide orient="horz" pos="1757"/>
        <p:guide orient="horz" pos="542"/>
        <p:guide orient="horz" pos="10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71192460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71192460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2f6af15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2f6af15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4964A42E-4E77-05B9-EDF2-682F0D935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>
            <a:extLst>
              <a:ext uri="{FF2B5EF4-FFF2-40B4-BE49-F238E27FC236}">
                <a16:creationId xmlns:a16="http://schemas.microsoft.com/office/drawing/2014/main" id="{30B4BEB9-A3CB-3F59-4B7A-F5F6D63684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>
            <a:extLst>
              <a:ext uri="{FF2B5EF4-FFF2-40B4-BE49-F238E27FC236}">
                <a16:creationId xmlns:a16="http://schemas.microsoft.com/office/drawing/2014/main" id="{D426F803-3278-C557-8D33-3C59DD9F1A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7616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08aeda40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408aeda40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8aeda40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8aeda40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3531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>
          <a:extLst>
            <a:ext uri="{FF2B5EF4-FFF2-40B4-BE49-F238E27FC236}">
              <a16:creationId xmlns:a16="http://schemas.microsoft.com/office/drawing/2014/main" id="{8745443A-062E-2D42-FEA7-609D8D23D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8aeda40d_0_88:notes">
            <a:extLst>
              <a:ext uri="{FF2B5EF4-FFF2-40B4-BE49-F238E27FC236}">
                <a16:creationId xmlns:a16="http://schemas.microsoft.com/office/drawing/2014/main" id="{6643CCF2-B284-B853-3A08-EF407DB89A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8aeda40d_0_88:notes">
            <a:extLst>
              <a:ext uri="{FF2B5EF4-FFF2-40B4-BE49-F238E27FC236}">
                <a16:creationId xmlns:a16="http://schemas.microsoft.com/office/drawing/2014/main" id="{7309A12A-D1C3-B370-3DB7-89A21E57A8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5135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>
          <a:extLst>
            <a:ext uri="{FF2B5EF4-FFF2-40B4-BE49-F238E27FC236}">
              <a16:creationId xmlns:a16="http://schemas.microsoft.com/office/drawing/2014/main" id="{E0F8DBC1-AC6C-B220-8696-75AE23247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8aeda40d_0_88:notes">
            <a:extLst>
              <a:ext uri="{FF2B5EF4-FFF2-40B4-BE49-F238E27FC236}">
                <a16:creationId xmlns:a16="http://schemas.microsoft.com/office/drawing/2014/main" id="{7668E46D-0AD6-470A-CD17-323F46E38C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8aeda40d_0_88:notes">
            <a:extLst>
              <a:ext uri="{FF2B5EF4-FFF2-40B4-BE49-F238E27FC236}">
                <a16:creationId xmlns:a16="http://schemas.microsoft.com/office/drawing/2014/main" id="{F47DBD32-F7EF-A51E-7EFB-F2C5C42F15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27234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>
          <a:extLst>
            <a:ext uri="{FF2B5EF4-FFF2-40B4-BE49-F238E27FC236}">
              <a16:creationId xmlns:a16="http://schemas.microsoft.com/office/drawing/2014/main" id="{75FF8FEE-581E-9FEE-5ECF-38B75973A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8aeda40d_0_88:notes">
            <a:extLst>
              <a:ext uri="{FF2B5EF4-FFF2-40B4-BE49-F238E27FC236}">
                <a16:creationId xmlns:a16="http://schemas.microsoft.com/office/drawing/2014/main" id="{E77A8B53-EBA2-1042-3610-3C46C72EED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8aeda40d_0_88:notes">
            <a:extLst>
              <a:ext uri="{FF2B5EF4-FFF2-40B4-BE49-F238E27FC236}">
                <a16:creationId xmlns:a16="http://schemas.microsoft.com/office/drawing/2014/main" id="{8EC29AE9-E525-0F1B-27A9-AD8100CF2F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2301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C0D06C7-5F7E-A958-473F-9F574A25C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>
            <a:extLst>
              <a:ext uri="{FF2B5EF4-FFF2-40B4-BE49-F238E27FC236}">
                <a16:creationId xmlns:a16="http://schemas.microsoft.com/office/drawing/2014/main" id="{CC72C94B-4A94-2E85-90DA-9CCDAA4AC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>
            <a:extLst>
              <a:ext uri="{FF2B5EF4-FFF2-40B4-BE49-F238E27FC236}">
                <a16:creationId xmlns:a16="http://schemas.microsoft.com/office/drawing/2014/main" id="{E8868129-8208-80B2-23ED-C4FD61342C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78917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71748b7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71748b72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l titolo 1">
  <p:cSld name="TITLE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Font typeface="Lekton"/>
              <a:buNone/>
              <a:defRPr sz="4200" b="1">
                <a:latin typeface="Lekton"/>
                <a:ea typeface="Lekton"/>
                <a:cs typeface="Lekton"/>
                <a:sym typeface="Lek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867500" y="3427050"/>
            <a:ext cx="7557600" cy="5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726825" y="257900"/>
            <a:ext cx="6957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1578700"/>
            <a:ext cx="8520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Lekton"/>
              <a:buNone/>
              <a:defRPr sz="3000" b="1"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250825" y="3032375"/>
            <a:ext cx="42984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33333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della sezione 1">
  <p:cSld name="SECTION_HEADER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61300" y="1594350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61250" y="3253963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4439150" y="100"/>
            <a:ext cx="47049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837675" y="1656850"/>
            <a:ext cx="3288900" cy="29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3117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48324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">
  <p:cSld name="SECTION_TITLE_AND_DESCRIPTION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0" y="-125"/>
            <a:ext cx="9144000" cy="5143500"/>
          </a:xfrm>
          <a:prstGeom prst="rect">
            <a:avLst/>
          </a:prstGeom>
          <a:solidFill>
            <a:srgbClr val="D66B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">
  <p:cSld name="SECTION_TITLE_AND_DESCRIPTION_1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9" name="Google Shape;3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1175" y="-96750"/>
            <a:ext cx="9386000" cy="5293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">
  <p:cSld name="SECTION_TITLE_AND_DESCRIPTION_1_1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0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" name="Google Shape;45;p10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2">
  <p:cSld name="SECTION_TITLE_AND_DESCRIPTION_1_1_1_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52250"/>
            <a:ext cx="9338651" cy="5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52" name="Google Shape;52;p11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" name="Google Shape;53;p11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1">
  <p:cSld name="CUSTOM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2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56;p12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C67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">
  <p:cSld name="SECTION_TITLE_AND_DESCRIPTION_1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0075"/>
            <a:ext cx="9354474" cy="527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3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2">
  <p:cSld name="CUSTOM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4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4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8F44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">
  <p:cSld name="SECTION_TITLE_AND_DESCRIPTION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0075" y="-87875"/>
            <a:ext cx="9370249" cy="52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4" name="Google Shape;74;p15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" name="Google Shape;75;p15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3">
  <p:cSld name="CUSTOM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6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6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22E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 1">
  <p:cSld name="SECTION_TITLE_AND_DESCRIPTION_1_1_1_1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8950"/>
            <a:ext cx="9417551" cy="53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85" name="Google Shape;85;p17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65814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kton"/>
              <a:buNone/>
              <a:defRPr b="1">
                <a:latin typeface="Lekton"/>
                <a:ea typeface="Lekton"/>
                <a:cs typeface="Lekton"/>
                <a:sym typeface="Lekton"/>
              </a:defRPr>
            </a:lvl1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66B55"/>
              </a:buClr>
              <a:buSzPts val="20000"/>
              <a:buFont typeface="Lekton"/>
              <a:buNone/>
              <a:defRPr sz="20000" b="1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1"/>
          </p:nvPr>
        </p:nvSpPr>
        <p:spPr>
          <a:xfrm>
            <a:off x="2430575" y="2993300"/>
            <a:ext cx="42048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2"/>
          </p:nvPr>
        </p:nvSpPr>
        <p:spPr>
          <a:xfrm>
            <a:off x="2430575" y="3477850"/>
            <a:ext cx="4204800" cy="11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c.europa.eu/eurostat/databrowser/view/crim_pris_cap/default/table?lang=e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ec.europa.eu/eurostat/statistics-explained/index.php/Copyright/licence_policy" TargetMode="External"/><Relationship Id="rId4" Type="http://schemas.openxmlformats.org/officeDocument/2006/relationships/hyperlink" Target="https://ec.europa.eu/eurostat/help/copyright-notice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evola-dev/FDS02Q00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025A77F-518F-5BB5-D41C-225838A28C9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in a room">
            <a:extLst>
              <a:ext uri="{FF2B5EF4-FFF2-40B4-BE49-F238E27FC236}">
                <a16:creationId xmlns:a16="http://schemas.microsoft.com/office/drawing/2014/main" id="{1C612A77-5509-597F-3D7E-028EBE6A3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37" y="55500"/>
            <a:ext cx="8791125" cy="50235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16" name="Google Shape;116;p23"/>
          <p:cNvSpPr txBox="1">
            <a:spLocks noGrp="1"/>
          </p:cNvSpPr>
          <p:nvPr>
            <p:ph type="ctrTitle"/>
          </p:nvPr>
        </p:nvSpPr>
        <p:spPr>
          <a:xfrm>
            <a:off x="132936" y="46500"/>
            <a:ext cx="4584900" cy="8423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dirty="0"/>
              <a:t>Data Visualization Pitch</a:t>
            </a: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 Individual Assignment</a:t>
            </a:r>
            <a:endParaRPr sz="1800" dirty="0"/>
          </a:p>
        </p:txBody>
      </p:sp>
      <p:sp>
        <p:nvSpPr>
          <p:cNvPr id="117" name="Google Shape;117;p23"/>
          <p:cNvSpPr txBox="1"/>
          <p:nvPr/>
        </p:nvSpPr>
        <p:spPr>
          <a:xfrm>
            <a:off x="4397163" y="4331100"/>
            <a:ext cx="45849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 dirty="0">
                <a:latin typeface="Titillium Web"/>
                <a:ea typeface="Titillium Web"/>
                <a:cs typeface="Titillium Web"/>
                <a:sym typeface="Titillium Web"/>
              </a:rPr>
              <a:t>Student name: </a:t>
            </a:r>
            <a:r>
              <a:rPr lang="it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Giorgio Evola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ID: </a:t>
            </a:r>
            <a:r>
              <a:rPr lang="it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932861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e-mail address: </a:t>
            </a:r>
            <a:r>
              <a:rPr lang="en-US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g.evola2@campus.unimib.it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9" name="Google Shape;119;p23"/>
          <p:cNvSpPr txBox="1"/>
          <p:nvPr/>
        </p:nvSpPr>
        <p:spPr>
          <a:xfrm>
            <a:off x="2265050" y="547251"/>
            <a:ext cx="4584900" cy="24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chemeClr val="bg1"/>
                </a:solidFill>
                <a:latin typeface="Lekton"/>
                <a:ea typeface="Lekton"/>
                <a:cs typeface="Lekton"/>
                <a:sym typeface="Lekton"/>
              </a:rPr>
              <a:t> </a:t>
            </a:r>
            <a:r>
              <a:rPr lang="en-US" sz="4800" b="1" dirty="0">
                <a:solidFill>
                  <a:srgbClr val="D66B55"/>
                </a:solidFill>
                <a:latin typeface="Lekton"/>
                <a:sym typeface="Lekton"/>
              </a:rPr>
              <a:t>Prison Overcrowding</a:t>
            </a:r>
            <a:endParaRPr sz="1800" b="1" dirty="0">
              <a:solidFill>
                <a:srgbClr val="D66B55"/>
              </a:solidFill>
              <a:latin typeface="Lekton"/>
              <a:sym typeface="Lekton"/>
            </a:endParaRPr>
          </a:p>
        </p:txBody>
      </p:sp>
      <p:sp>
        <p:nvSpPr>
          <p:cNvPr id="2" name="Google Shape;116;p23">
            <a:extLst>
              <a:ext uri="{FF2B5EF4-FFF2-40B4-BE49-F238E27FC236}">
                <a16:creationId xmlns:a16="http://schemas.microsoft.com/office/drawing/2014/main" id="{36AC61FE-ACB1-B457-1919-42033E9DB52E}"/>
              </a:ext>
            </a:extLst>
          </p:cNvPr>
          <p:cNvSpPr txBox="1">
            <a:spLocks/>
          </p:cNvSpPr>
          <p:nvPr/>
        </p:nvSpPr>
        <p:spPr>
          <a:xfrm>
            <a:off x="132936" y="4619169"/>
            <a:ext cx="3434229" cy="492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ekton"/>
              <a:buNone/>
              <a:defRPr sz="4200" b="1" i="0" u="none" strike="noStrike" cap="none">
                <a:solidFill>
                  <a:schemeClr val="dk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1000" dirty="0">
                <a:solidFill>
                  <a:schemeClr val="tx1"/>
                </a:solidFill>
              </a:rPr>
              <a:t>Image source: </a:t>
            </a:r>
            <a:r>
              <a:rPr lang="en-US" sz="900" dirty="0">
                <a:solidFill>
                  <a:schemeClr val="tx1"/>
                </a:solidFill>
              </a:rPr>
              <a:t>Factual America. (</a:t>
            </a:r>
            <a:r>
              <a:rPr lang="en-US" sz="900" dirty="0" err="1">
                <a:solidFill>
                  <a:schemeClr val="tx1"/>
                </a:solidFill>
              </a:rPr>
              <a:t>s.d.</a:t>
            </a:r>
            <a:r>
              <a:rPr lang="en-US" sz="900" dirty="0">
                <a:solidFill>
                  <a:schemeClr val="tx1"/>
                </a:solidFill>
              </a:rPr>
              <a:t>). 8 Eye-Opening Documentaries on Prison Overcrowding </a:t>
            </a:r>
            <a:r>
              <a:rPr lang="en-US" sz="800" dirty="0">
                <a:solidFill>
                  <a:schemeClr val="tx1"/>
                </a:solidFill>
              </a:rPr>
              <a:t>- https://images.squarespace-cdn.com/content/v1/62fbfbed423b4f1bb8caed31/057f9c75-101a-42c9-befe-d1097d1a02a2/3.jpg?format=2500w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/>
        </p:nvSpPr>
        <p:spPr>
          <a:xfrm>
            <a:off x="540000" y="384724"/>
            <a:ext cx="8010000" cy="4335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Research questions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lvl="0">
              <a:lnSpc>
                <a:spcPct val="115000"/>
              </a:lnSpc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Which are the European countries with the highest prison overcrowding in the 2022, and how has their occupancy rate evolved over time?</a:t>
            </a:r>
          </a:p>
          <a:p>
            <a:pPr lvl="0">
              <a:lnSpc>
                <a:spcPct val="115000"/>
              </a:lnSpc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​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How many European countries exceed 100% prison occupancy rate in the 2022?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Which countries have been most successful in keeping occupancy below capacity in the 2022?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What are the regional differences (North vs South Europe) in prison overcrowding?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Lekton"/>
                <a:ea typeface="Lekton"/>
                <a:cs typeface="Lekton"/>
                <a:sym typeface="Lekton"/>
              </a:rPr>
              <a:t>Are their trends improving, stable, or worsening over the 2014–2022 period, compared to the overall European average?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/>
        </p:nvSpPr>
        <p:spPr>
          <a:xfrm>
            <a:off x="540000" y="384724"/>
            <a:ext cx="8010000" cy="459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About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Dataset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Eurostat Prison capacity and number of persons held (link 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  <a:hlinkClick r:id="rId3"/>
              </a:rPr>
              <a:t>Eurostat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, code 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crim_pris_cap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https://ec.europa.eu/eurostat/databrowser/view/crim_pris_cap/default/table?lang=en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It is reused in accordance with Eurostat's 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licence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policy: free reuse for commercial or non-commercial purposes, subject to acknowledgement of the source ("Eurostat") and indication of any modifications. 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Full policy: 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  <a:hlinkClick r:id="rId4"/>
              </a:rPr>
              <a:t>https://ec.europa.eu/eurostat/help/copyright-notice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or 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  <a:hlinkClick r:id="rId5"/>
              </a:rPr>
              <a:t>https://ec.europa.eu/eurostat/statistics-explained/index.php/Copyright/licence_policy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259E3500-9AED-228E-04CE-8D7E6DFFA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>
            <a:extLst>
              <a:ext uri="{FF2B5EF4-FFF2-40B4-BE49-F238E27FC236}">
                <a16:creationId xmlns:a16="http://schemas.microsoft.com/office/drawing/2014/main" id="{110443F8-0A98-8D46-D5F2-434B6CAF910C}"/>
              </a:ext>
            </a:extLst>
          </p:cNvPr>
          <p:cNvSpPr txBox="1"/>
          <p:nvPr/>
        </p:nvSpPr>
        <p:spPr>
          <a:xfrm>
            <a:off x="540000" y="384724"/>
            <a:ext cx="8010000" cy="459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About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lvl="0"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Temporal coverage: 2014–2022 (9 years)</a:t>
            </a:r>
          </a:p>
          <a:p>
            <a:pPr lvl="0"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Geographic scope: 37 European countries (EU27 + Balkans + Nordic countries)</a:t>
            </a:r>
          </a:p>
          <a:p>
            <a:pPr lvl="0"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Total records: 1,454 observations</a:t>
            </a:r>
          </a:p>
          <a:p>
            <a:pPr lvl="0">
              <a:spcBef>
                <a:spcPts val="1000"/>
              </a:spcBef>
            </a:pPr>
            <a:endParaRPr lang="en-US" b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lvl="0">
              <a:spcBef>
                <a:spcPts val="1000"/>
              </a:spcBef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Known issues</a:t>
            </a:r>
          </a:p>
          <a:p>
            <a:pPr lvl="0"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Some small countries (Liechtenstein, Cyprus, Malta) have volatile year-to-year variations due to small prison population</a:t>
            </a:r>
          </a:p>
          <a:p>
            <a:pPr lvl="0"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Missing data for a few countries in specific years (e.g. North Macedonia: only 2016–2023)</a:t>
            </a:r>
          </a:p>
          <a:p>
            <a:pPr lvl="0"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The year 2022 best balances recency and data completeness across countries, so it serves as the reference for analyses</a:t>
            </a:r>
          </a:p>
        </p:txBody>
      </p:sp>
    </p:spTree>
    <p:extLst>
      <p:ext uri="{BB962C8B-B14F-4D97-AF65-F5344CB8AC3E}">
        <p14:creationId xmlns:p14="http://schemas.microsoft.com/office/powerpoint/2010/main" val="2603899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C2E6005-0B0D-4879-B1D2-FB7B3587BC9A}"/>
              </a:ext>
            </a:extLst>
          </p:cNvPr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9" name="Google Shape;159;p30"/>
          <p:cNvSpPr txBox="1"/>
          <p:nvPr/>
        </p:nvSpPr>
        <p:spPr>
          <a:xfrm>
            <a:off x="2265903" y="111777"/>
            <a:ext cx="4572000" cy="27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Methodology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96A8028-6E19-4E1C-AF14-AC2D7C7997FE}"/>
              </a:ext>
            </a:extLst>
          </p:cNvPr>
          <p:cNvSpPr txBox="1"/>
          <p:nvPr/>
        </p:nvSpPr>
        <p:spPr>
          <a:xfrm>
            <a:off x="0" y="387071"/>
            <a:ext cx="45720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333333"/>
              </a:solidFill>
              <a:latin typeface="Lekton"/>
            </a:endParaRPr>
          </a:p>
          <a:p>
            <a:r>
              <a:rPr lang="en-US" b="1" dirty="0">
                <a:solidFill>
                  <a:srgbClr val="333333"/>
                </a:solidFill>
                <a:latin typeface="Lekton"/>
              </a:rPr>
              <a:t>Software &amp; Libraries</a:t>
            </a:r>
          </a:p>
          <a:p>
            <a:endParaRPr lang="en-US" dirty="0">
              <a:solidFill>
                <a:srgbClr val="333333"/>
              </a:solidFill>
              <a:latin typeface="Lekto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</a:rPr>
              <a:t>Python 3.12 (</a:t>
            </a:r>
            <a:r>
              <a:rPr lang="en-US" dirty="0" err="1">
                <a:solidFill>
                  <a:srgbClr val="333333"/>
                </a:solidFill>
                <a:latin typeface="Lekton"/>
              </a:rPr>
              <a:t>Jupyter</a:t>
            </a:r>
            <a:r>
              <a:rPr lang="en-US" dirty="0">
                <a:solidFill>
                  <a:srgbClr val="333333"/>
                </a:solidFill>
                <a:latin typeface="Lekton"/>
              </a:rPr>
              <a:t> Notebook environment)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</a:rPr>
              <a:t>pandas (data manipulation, pivot tables, filtering)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33333"/>
                </a:solidFill>
                <a:latin typeface="Lekton"/>
              </a:rPr>
              <a:t>plotly</a:t>
            </a:r>
            <a:r>
              <a:rPr lang="en-US" dirty="0">
                <a:solidFill>
                  <a:srgbClr val="333333"/>
                </a:solidFill>
                <a:latin typeface="Lekton"/>
              </a:rPr>
              <a:t> (interactive visualization)</a:t>
            </a:r>
          </a:p>
          <a:p>
            <a:endParaRPr lang="en-US" dirty="0">
              <a:solidFill>
                <a:srgbClr val="333333"/>
              </a:solidFill>
              <a:latin typeface="Lekton"/>
            </a:endParaRPr>
          </a:p>
          <a:p>
            <a:r>
              <a:rPr lang="en-US" b="1" dirty="0">
                <a:solidFill>
                  <a:srgbClr val="333333"/>
                </a:solidFill>
                <a:latin typeface="Lekton"/>
              </a:rPr>
              <a:t>Methodology</a:t>
            </a:r>
          </a:p>
          <a:p>
            <a:endParaRPr lang="en-US" dirty="0">
              <a:solidFill>
                <a:srgbClr val="333333"/>
              </a:solidFill>
              <a:latin typeface="Lekto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</a:rPr>
              <a:t>Built a </a:t>
            </a:r>
            <a:r>
              <a:rPr lang="en-US" dirty="0" err="1">
                <a:solidFill>
                  <a:srgbClr val="333333"/>
                </a:solidFill>
                <a:latin typeface="Lekton"/>
              </a:rPr>
              <a:t>Jupyter</a:t>
            </a:r>
            <a:r>
              <a:rPr lang="en-US" dirty="0">
                <a:solidFill>
                  <a:srgbClr val="333333"/>
                </a:solidFill>
                <a:latin typeface="Lekton"/>
              </a:rPr>
              <a:t> notebook to read, standardize, and normalize prison data from CSV files using pandas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</a:rPr>
              <a:t>Created reusable Python functions in dedicated modules. Each outputs intermediate CSVs for visualization and analysis.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</a:rPr>
              <a:t>Generated charts directly from intermediate CSVs using </a:t>
            </a:r>
            <a:r>
              <a:rPr lang="en-US" dirty="0" err="1">
                <a:solidFill>
                  <a:srgbClr val="333333"/>
                </a:solidFill>
                <a:latin typeface="Lekton"/>
              </a:rPr>
              <a:t>Plotly</a:t>
            </a:r>
            <a:endParaRPr lang="en-US" dirty="0">
              <a:solidFill>
                <a:srgbClr val="333333"/>
              </a:solidFill>
              <a:latin typeface="Lekto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</a:rPr>
              <a:t>Created a European prison overcrowding map (2022) using Data Wrapper Choropleth</a:t>
            </a:r>
          </a:p>
          <a:p>
            <a:endParaRPr lang="en-US" dirty="0">
              <a:solidFill>
                <a:srgbClr val="333333"/>
              </a:solidFill>
              <a:latin typeface="Lekton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3541C0F-8638-4738-9EF6-FAE81157F366}"/>
              </a:ext>
            </a:extLst>
          </p:cNvPr>
          <p:cNvSpPr txBox="1"/>
          <p:nvPr/>
        </p:nvSpPr>
        <p:spPr>
          <a:xfrm>
            <a:off x="4531806" y="387071"/>
            <a:ext cx="45720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333333"/>
              </a:solidFill>
              <a:latin typeface="Lekton"/>
            </a:endParaRPr>
          </a:p>
          <a:p>
            <a:r>
              <a:rPr lang="en-US" b="1" dirty="0">
                <a:solidFill>
                  <a:srgbClr val="333333"/>
                </a:solidFill>
                <a:latin typeface="Lekton"/>
              </a:rPr>
              <a:t>Processing Steps</a:t>
            </a:r>
          </a:p>
          <a:p>
            <a:endParaRPr lang="en-US" dirty="0">
              <a:solidFill>
                <a:srgbClr val="333333"/>
              </a:solidFill>
              <a:latin typeface="Lekto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</a:rPr>
              <a:t>Read CSV, standardized column names, and pivoted data by country/year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</a:rPr>
              <a:t>Calculated occupancy rate: (prisoners/capacity) × 100; normalized as percentages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</a:rPr>
              <a:t>Identified top 10 overcrowded countries (2022) exceeding 100% capacity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</a:rPr>
              <a:t>Segmented North/South regions with stats (mean, min, max, count)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</a:rPr>
              <a:t>Created time series for low-occupancy countries (Iceland, Malta, Cyprus, Liechtenstein)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</a:rPr>
              <a:t>Generated charts from intermediate CSV outputs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</a:rPr>
              <a:t>Used LLM Copilot (VS Code) for code review and 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solidFill>
                <a:srgbClr val="333333"/>
              </a:solidFill>
              <a:latin typeface="Lekton"/>
            </a:endParaRPr>
          </a:p>
          <a:p>
            <a:r>
              <a:rPr lang="en-US" b="1" dirty="0" err="1">
                <a:solidFill>
                  <a:srgbClr val="333333"/>
                </a:solidFill>
                <a:latin typeface="Lekton"/>
              </a:rPr>
              <a:t>Github</a:t>
            </a:r>
            <a:r>
              <a:rPr lang="en-US" b="1" dirty="0">
                <a:solidFill>
                  <a:srgbClr val="333333"/>
                </a:solidFill>
                <a:latin typeface="Lekton"/>
              </a:rPr>
              <a:t> repository</a:t>
            </a:r>
          </a:p>
          <a:p>
            <a:endParaRPr lang="en-US" dirty="0">
              <a:solidFill>
                <a:srgbClr val="333333"/>
              </a:solidFill>
              <a:latin typeface="Lekton"/>
              <a:hlinkClick r:id="rId3"/>
            </a:endParaRPr>
          </a:p>
          <a:p>
            <a:r>
              <a:rPr lang="en-US" dirty="0">
                <a:solidFill>
                  <a:srgbClr val="333333"/>
                </a:solidFill>
                <a:latin typeface="Lekton"/>
                <a:hlinkClick r:id="rId3"/>
              </a:rPr>
              <a:t>https://github.com/gevola-dev/FDS02Q001</a:t>
            </a:r>
            <a:r>
              <a:rPr lang="en-US" dirty="0">
                <a:solidFill>
                  <a:srgbClr val="333333"/>
                </a:solidFill>
                <a:latin typeface="Lekton"/>
              </a:rPr>
              <a:t> </a:t>
            </a:r>
          </a:p>
          <a:p>
            <a:endParaRPr lang="en-US" dirty="0">
              <a:solidFill>
                <a:srgbClr val="333333"/>
              </a:solidFill>
              <a:latin typeface="Lekto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3B5391F-CCE7-653F-842F-786285D02B8C}"/>
              </a:ext>
            </a:extLst>
          </p:cNvPr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5" name="Google Shape;175;p33"/>
          <p:cNvSpPr txBox="1"/>
          <p:nvPr/>
        </p:nvSpPr>
        <p:spPr>
          <a:xfrm>
            <a:off x="5356799" y="75349"/>
            <a:ext cx="3684493" cy="1020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European prison overcrowding map in 2022</a:t>
            </a:r>
            <a:endParaRPr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E32C00-CB1F-6C74-C042-647A29556A18}"/>
              </a:ext>
            </a:extLst>
          </p:cNvPr>
          <p:cNvSpPr txBox="1"/>
          <p:nvPr/>
        </p:nvSpPr>
        <p:spPr>
          <a:xfrm>
            <a:off x="5356798" y="1095934"/>
            <a:ext cx="368449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US" sz="10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000" b="1" dirty="0">
                <a:solidFill>
                  <a:srgbClr val="333333"/>
                </a:solidFill>
                <a:latin typeface="Lekton"/>
              </a:rPr>
              <a:t>Color scheme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Orange: &lt;80% (good, below capacity)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Pink: 80–100% (acceptable, at capacity)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Violet: 100–110% (overcrowded, critical)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Blue: &gt;110% (severe overcrowding, emergency)</a:t>
            </a:r>
          </a:p>
          <a:p>
            <a:pPr algn="l">
              <a:buNone/>
            </a:pPr>
            <a:endParaRPr lang="en-US" sz="10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000" b="1" dirty="0">
                <a:solidFill>
                  <a:srgbClr val="333333"/>
                </a:solidFill>
                <a:latin typeface="Lekton"/>
              </a:rPr>
              <a:t>What the map shows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13 countries highlighted in violet/blue: Exceeding 100% capacity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Top 3 worst: France (118.96%), Turkey (117.70%), Romania (112.21%)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EU27 average: 95.7%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Best performers: Estonia, Malta, Latvia, Bulgaria, Ireland (62–75%)</a:t>
            </a:r>
          </a:p>
          <a:p>
            <a:pPr algn="l">
              <a:buNone/>
            </a:pPr>
            <a:endParaRPr lang="en-US" sz="10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000" b="1" dirty="0">
                <a:solidFill>
                  <a:srgbClr val="333333"/>
                </a:solidFill>
                <a:latin typeface="Lekton"/>
              </a:rPr>
              <a:t>Key insight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Prison overcrowding is concentrated in Southern and Central Europe, not uniformly distributed. Northern European countries successfully maintain capacity well below 100%, suggesting policy/system differences.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B7AC9C1-FC0B-428B-B8CB-C91A6F5CFFB1}"/>
              </a:ext>
            </a:extLst>
          </p:cNvPr>
          <p:cNvSpPr/>
          <p:nvPr/>
        </p:nvSpPr>
        <p:spPr>
          <a:xfrm>
            <a:off x="3897961" y="4457700"/>
            <a:ext cx="25829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38D9982-2609-445F-A488-2B0444007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297293" cy="5143500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11975591-C782-49F1-A320-D0CE0ECDEE3B}"/>
              </a:ext>
            </a:extLst>
          </p:cNvPr>
          <p:cNvSpPr/>
          <p:nvPr/>
        </p:nvSpPr>
        <p:spPr>
          <a:xfrm>
            <a:off x="4156259" y="4457699"/>
            <a:ext cx="173694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">
            <a:extLst>
              <a:ext uri="{FF2B5EF4-FFF2-40B4-BE49-F238E27FC236}">
                <a16:creationId xmlns:a16="http://schemas.microsoft.com/office/drawing/2014/main" id="{85CD9628-0A4C-99FD-D0BC-D69B72DC99F9}"/>
              </a:ext>
            </a:extLst>
          </p:cNvPr>
          <p:cNvSpPr/>
          <p:nvPr/>
        </p:nvSpPr>
        <p:spPr>
          <a:xfrm>
            <a:off x="5797899" y="0"/>
            <a:ext cx="3344238" cy="51435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0" name="Google Shape;180;p34"/>
          <p:cNvSpPr txBox="1"/>
          <p:nvPr/>
        </p:nvSpPr>
        <p:spPr>
          <a:xfrm>
            <a:off x="369898" y="95939"/>
            <a:ext cx="5058101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European countries exceed 100% prison occupancy in 2022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ACC2-9BD0-A397-E2B5-AA9B98489E73}"/>
              </a:ext>
            </a:extLst>
          </p:cNvPr>
          <p:cNvSpPr txBox="1"/>
          <p:nvPr/>
        </p:nvSpPr>
        <p:spPr>
          <a:xfrm>
            <a:off x="5797899" y="1009259"/>
            <a:ext cx="334423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Time series line chart (2014–2022) showing prison occupancy rate evolution across European countries exceeding 100% capacity, </a:t>
            </a:r>
            <a:r>
              <a:rPr lang="en-US" sz="1000" b="1" dirty="0">
                <a:solidFill>
                  <a:srgbClr val="333333"/>
                </a:solidFill>
                <a:latin typeface="Lekton"/>
              </a:rPr>
              <a:t>excluding smaller countries</a:t>
            </a:r>
            <a:r>
              <a:rPr lang="en-US" sz="1000" dirty="0">
                <a:solidFill>
                  <a:srgbClr val="333333"/>
                </a:solidFill>
                <a:latin typeface="Lekton"/>
              </a:rPr>
              <a:t>.</a:t>
            </a:r>
          </a:p>
          <a:p>
            <a:pPr algn="l">
              <a:buNone/>
            </a:pPr>
            <a:endParaRPr lang="en-US" sz="10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Key Insights</a:t>
            </a:r>
          </a:p>
          <a:p>
            <a:pPr algn="l">
              <a:buNone/>
            </a:pPr>
            <a:endParaRPr lang="en-US" sz="1000" dirty="0">
              <a:solidFill>
                <a:srgbClr val="333333"/>
              </a:solidFill>
              <a:latin typeface="Lekton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10-year horizon: </a:t>
            </a:r>
            <a:r>
              <a:rPr lang="en-US" sz="1000" b="1" dirty="0">
                <a:solidFill>
                  <a:srgbClr val="333333"/>
                </a:solidFill>
                <a:latin typeface="Lekton"/>
              </a:rPr>
              <a:t>overcrowding is not temporary</a:t>
            </a:r>
            <a:r>
              <a:rPr lang="en-US" sz="1000" dirty="0">
                <a:solidFill>
                  <a:srgbClr val="333333"/>
                </a:solidFill>
                <a:latin typeface="Lekton"/>
              </a:rPr>
              <a:t>,</a:t>
            </a:r>
            <a:r>
              <a:rPr lang="en-US" sz="1000" b="1" dirty="0">
                <a:solidFill>
                  <a:srgbClr val="333333"/>
                </a:solidFill>
                <a:latin typeface="Lekton"/>
              </a:rPr>
              <a:t> </a:t>
            </a:r>
            <a:r>
              <a:rPr lang="en-US" sz="1000" dirty="0">
                <a:solidFill>
                  <a:srgbClr val="333333"/>
                </a:solidFill>
                <a:latin typeface="Lekton"/>
              </a:rPr>
              <a:t>it's a structural issue in Southern Europe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Regional patterns: countries like France, Belgium, Italy and Romania show sustained overcrowding, indicating systemic capacity deficits rather than cyclical pressures</a:t>
            </a:r>
          </a:p>
          <a:p>
            <a:pPr algn="l"/>
            <a:endParaRPr lang="en-US" sz="1000" dirty="0">
              <a:solidFill>
                <a:srgbClr val="333333"/>
              </a:solidFill>
              <a:latin typeface="Lekton"/>
            </a:endParaRPr>
          </a:p>
          <a:p>
            <a:pPr algn="l"/>
            <a:r>
              <a:rPr lang="en-US" sz="1000" dirty="0">
                <a:solidFill>
                  <a:srgbClr val="333333"/>
                </a:solidFill>
                <a:latin typeface="Lekton"/>
              </a:rPr>
              <a:t>Divergent trajectories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  <a:latin typeface="Lekton"/>
            </a:endParaRP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Lekton"/>
              </a:rPr>
              <a:t>Hungary displays a consistent downward trend</a:t>
            </a:r>
            <a:r>
              <a:rPr lang="en-US" sz="1000" dirty="0">
                <a:solidFill>
                  <a:srgbClr val="333333"/>
                </a:solidFill>
                <a:latin typeface="Lekton"/>
              </a:rPr>
              <a:t>, declining from 142% (2014) to 104% (2022), suggesting successful prison decongestion policies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Lekton"/>
              </a:rPr>
              <a:t>Croatia shows the opposite pattern</a:t>
            </a:r>
            <a:r>
              <a:rPr lang="en-US" sz="1000" dirty="0">
                <a:solidFill>
                  <a:srgbClr val="333333"/>
                </a:solidFill>
                <a:latin typeface="Lekton"/>
              </a:rPr>
              <a:t>, rising from 94% (2014) to 104% (2022), indicating worsening overcrowding despite initial lower capacity pressure</a:t>
            </a:r>
          </a:p>
        </p:txBody>
      </p:sp>
      <p:pic>
        <p:nvPicPr>
          <p:cNvPr id="7" name="Picture 6" descr="A graph with colorful lines and numbers">
            <a:extLst>
              <a:ext uri="{FF2B5EF4-FFF2-40B4-BE49-F238E27FC236}">
                <a16:creationId xmlns:a16="http://schemas.microsoft.com/office/drawing/2014/main" id="{3ECF36DD-9113-490A-7FBB-1499BDB44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5291"/>
            <a:ext cx="5797899" cy="289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308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>
          <a:extLst>
            <a:ext uri="{FF2B5EF4-FFF2-40B4-BE49-F238E27FC236}">
              <a16:creationId xmlns:a16="http://schemas.microsoft.com/office/drawing/2014/main" id="{9EFE0D3A-6FBE-B5C5-C137-0C9C1A6D7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">
            <a:extLst>
              <a:ext uri="{FF2B5EF4-FFF2-40B4-BE49-F238E27FC236}">
                <a16:creationId xmlns:a16="http://schemas.microsoft.com/office/drawing/2014/main" id="{D1FA6EAC-7FCB-D83C-FAC0-01AE45D4C290}"/>
              </a:ext>
            </a:extLst>
          </p:cNvPr>
          <p:cNvSpPr/>
          <p:nvPr/>
        </p:nvSpPr>
        <p:spPr>
          <a:xfrm>
            <a:off x="5797899" y="0"/>
            <a:ext cx="3344238" cy="51435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0" name="Google Shape;180;p34">
            <a:extLst>
              <a:ext uri="{FF2B5EF4-FFF2-40B4-BE49-F238E27FC236}">
                <a16:creationId xmlns:a16="http://schemas.microsoft.com/office/drawing/2014/main" id="{BB214E10-E796-40AE-0C98-7E1C0FD800E4}"/>
              </a:ext>
            </a:extLst>
          </p:cNvPr>
          <p:cNvSpPr txBox="1"/>
          <p:nvPr/>
        </p:nvSpPr>
        <p:spPr>
          <a:xfrm>
            <a:off x="369898" y="95939"/>
            <a:ext cx="5058101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Prison capacity management success across Europe in 2022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7A12B2-647C-9419-78E4-713D9C9F023D}"/>
              </a:ext>
            </a:extLst>
          </p:cNvPr>
          <p:cNvSpPr txBox="1"/>
          <p:nvPr/>
        </p:nvSpPr>
        <p:spPr>
          <a:xfrm>
            <a:off x="5797899" y="1009259"/>
            <a:ext cx="334423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Time series line chart (2014–2022) showing prison occupancy rates for </a:t>
            </a:r>
            <a:r>
              <a:rPr lang="en-US" sz="1000" b="1" dirty="0">
                <a:solidFill>
                  <a:srgbClr val="333333"/>
                </a:solidFill>
                <a:latin typeface="Lekton"/>
              </a:rPr>
              <a:t>10 European countries consistently maintaining capacity below 100%</a:t>
            </a:r>
            <a:r>
              <a:rPr lang="en-US" sz="1000" dirty="0">
                <a:solidFill>
                  <a:srgbClr val="333333"/>
                </a:solidFill>
                <a:latin typeface="Lekton"/>
              </a:rPr>
              <a:t>, demonstrating effective prison management systems.</a:t>
            </a:r>
          </a:p>
          <a:p>
            <a:pPr algn="l">
              <a:buNone/>
            </a:pPr>
            <a:endParaRPr lang="en-US" sz="10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Key Insights</a:t>
            </a:r>
          </a:p>
          <a:p>
            <a:pPr algn="l">
              <a:buNone/>
            </a:pPr>
            <a:endParaRPr lang="en-US" sz="1000" dirty="0">
              <a:solidFill>
                <a:srgbClr val="333333"/>
              </a:solidFill>
              <a:latin typeface="Lekton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Consistent capacity management: countries like Estonia, Bulgaria, Malta, and Lithuania have achieved sustained occupancy rates well below 100%, with rates ranging from 58–79% in 2022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Lekton"/>
              </a:rPr>
              <a:t>Diverse starting points</a:t>
            </a:r>
            <a:r>
              <a:rPr lang="en-US" sz="1000" dirty="0">
                <a:solidFill>
                  <a:srgbClr val="333333"/>
                </a:solidFill>
                <a:latin typeface="Lekton"/>
              </a:rPr>
              <a:t>: while Estonia started above 100% (102.43% in 2014), it successfully decongested to 62.18% by 2022—demonstrating that capacity reform is achievable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Stable trajectories: </a:t>
            </a:r>
            <a:r>
              <a:rPr lang="en-US" sz="1000" b="1" dirty="0">
                <a:solidFill>
                  <a:srgbClr val="333333"/>
                </a:solidFill>
                <a:latin typeface="Lekton"/>
              </a:rPr>
              <a:t>Germany and Spain maintain steady, moderate occupancy rates </a:t>
            </a:r>
            <a:r>
              <a:rPr lang="en-US" sz="1000" dirty="0">
                <a:solidFill>
                  <a:srgbClr val="333333"/>
                </a:solidFill>
                <a:latin typeface="Lekton"/>
              </a:rPr>
              <a:t>(79% and 75% respectively), reflecting long-term prison management sustainability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Policy success model: These countries represent best-practice examples of prison system organization, particularly through </a:t>
            </a:r>
            <a:r>
              <a:rPr lang="en-US" sz="1000" b="1" dirty="0">
                <a:solidFill>
                  <a:srgbClr val="333333"/>
                </a:solidFill>
                <a:latin typeface="Lekton"/>
              </a:rPr>
              <a:t>strategic decongestion policies</a:t>
            </a:r>
            <a:r>
              <a:rPr lang="en-US" sz="1000" dirty="0">
                <a:solidFill>
                  <a:srgbClr val="333333"/>
                </a:solidFill>
                <a:latin typeface="Lekton"/>
              </a:rPr>
              <a:t> (visible in Estonia and Bulgaria)</a:t>
            </a:r>
          </a:p>
        </p:txBody>
      </p:sp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5C67405-BD1E-95F9-D98C-5F8627181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1452610"/>
            <a:ext cx="5797900" cy="289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86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>
          <a:extLst>
            <a:ext uri="{FF2B5EF4-FFF2-40B4-BE49-F238E27FC236}">
              <a16:creationId xmlns:a16="http://schemas.microsoft.com/office/drawing/2014/main" id="{0EB18DB0-2CB3-9551-CE97-8EE1961F5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">
            <a:extLst>
              <a:ext uri="{FF2B5EF4-FFF2-40B4-BE49-F238E27FC236}">
                <a16:creationId xmlns:a16="http://schemas.microsoft.com/office/drawing/2014/main" id="{6C9041E5-8E26-F5FE-A89F-7E8B20928106}"/>
              </a:ext>
            </a:extLst>
          </p:cNvPr>
          <p:cNvSpPr/>
          <p:nvPr/>
        </p:nvSpPr>
        <p:spPr>
          <a:xfrm>
            <a:off x="5797899" y="0"/>
            <a:ext cx="3344238" cy="51435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0" name="Google Shape;180;p34">
            <a:extLst>
              <a:ext uri="{FF2B5EF4-FFF2-40B4-BE49-F238E27FC236}">
                <a16:creationId xmlns:a16="http://schemas.microsoft.com/office/drawing/2014/main" id="{207A22B4-D393-4CCF-AD74-50D3D690E8E9}"/>
              </a:ext>
            </a:extLst>
          </p:cNvPr>
          <p:cNvSpPr txBox="1"/>
          <p:nvPr/>
        </p:nvSpPr>
        <p:spPr>
          <a:xfrm>
            <a:off x="374922" y="111012"/>
            <a:ext cx="5058101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Prison population trends in smaller European systems (2014–2022)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8EFE5-5C57-AD28-FDC8-297C9E1E8754}"/>
              </a:ext>
            </a:extLst>
          </p:cNvPr>
          <p:cNvSpPr txBox="1"/>
          <p:nvPr/>
        </p:nvSpPr>
        <p:spPr>
          <a:xfrm>
            <a:off x="5797899" y="1009259"/>
            <a:ext cx="3344238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Time series line chart (2014–2022) tracking prison occupancy rates in </a:t>
            </a:r>
            <a:r>
              <a:rPr lang="en-US" sz="1000" b="1" dirty="0">
                <a:solidFill>
                  <a:srgbClr val="333333"/>
                </a:solidFill>
                <a:latin typeface="Lekton"/>
              </a:rPr>
              <a:t>Europe's smallest prison systems</a:t>
            </a:r>
            <a:r>
              <a:rPr lang="en-US" sz="1000" dirty="0">
                <a:solidFill>
                  <a:srgbClr val="333333"/>
                </a:solidFill>
                <a:latin typeface="Lekton"/>
              </a:rPr>
              <a:t>: Cyprus, Iceland, Liechtenstein, and Malta.</a:t>
            </a:r>
          </a:p>
          <a:p>
            <a:pPr algn="l">
              <a:buNone/>
            </a:pPr>
            <a:endParaRPr lang="en-US" sz="10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Key Insights</a:t>
            </a:r>
          </a:p>
          <a:p>
            <a:pPr algn="l">
              <a:buNone/>
            </a:pPr>
            <a:endParaRPr lang="en-US" sz="10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Extreme volatility in small populations: with absolute prison populations under 1,000, these micro-systems exhibit dramatic occupancy fluctuations. </a:t>
            </a:r>
            <a:r>
              <a:rPr lang="en-US" sz="1000" b="1" dirty="0">
                <a:solidFill>
                  <a:srgbClr val="333333"/>
                </a:solidFill>
                <a:latin typeface="Lekton"/>
              </a:rPr>
              <a:t>A single admission or release represents a significant percentage change in system capacity</a:t>
            </a:r>
          </a:p>
          <a:p>
            <a:pPr algn="l">
              <a:buNone/>
            </a:pPr>
            <a:endParaRPr lang="en-US" sz="1000" dirty="0">
              <a:solidFill>
                <a:srgbClr val="333333"/>
              </a:solidFill>
              <a:latin typeface="Lekton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Cyprus: climbs from 114% (2018) to 226% (2022)—a 99-point surge driven by minimal absolute population changes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Liechtenstein: Oscillates between 195–365% occupancy across the decade—reflecting its ultra-small prison population (typically &lt;200 inmates)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Malta &amp; Iceland: Show more moderate volatility, with Malta achieving decongestion (93% → 59%) and Iceland maintaining steady efficiency (99% → 76%)</a:t>
            </a:r>
          </a:p>
        </p:txBody>
      </p:sp>
      <p:pic>
        <p:nvPicPr>
          <p:cNvPr id="4" name="Picture 3" descr="A graph of the country's rising prices&#10;&#10;AI-generated content may be incorrect.">
            <a:extLst>
              <a:ext uri="{FF2B5EF4-FFF2-40B4-BE49-F238E27FC236}">
                <a16:creationId xmlns:a16="http://schemas.microsoft.com/office/drawing/2014/main" id="{13F388C4-529A-1B55-EE8B-17B2E6114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" y="1122275"/>
            <a:ext cx="5797898" cy="28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96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>
          <a:extLst>
            <a:ext uri="{FF2B5EF4-FFF2-40B4-BE49-F238E27FC236}">
              <a16:creationId xmlns:a16="http://schemas.microsoft.com/office/drawing/2014/main" id="{47E5BBA1-F312-5D3E-C022-F6008C226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1">
            <a:extLst>
              <a:ext uri="{FF2B5EF4-FFF2-40B4-BE49-F238E27FC236}">
                <a16:creationId xmlns:a16="http://schemas.microsoft.com/office/drawing/2014/main" id="{210CA6F0-EF64-FDF2-0B8A-0C6105FD88E8}"/>
              </a:ext>
            </a:extLst>
          </p:cNvPr>
          <p:cNvSpPr/>
          <p:nvPr/>
        </p:nvSpPr>
        <p:spPr>
          <a:xfrm>
            <a:off x="5797899" y="0"/>
            <a:ext cx="3344238" cy="51435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0" name="Google Shape;180;p34">
            <a:extLst>
              <a:ext uri="{FF2B5EF4-FFF2-40B4-BE49-F238E27FC236}">
                <a16:creationId xmlns:a16="http://schemas.microsoft.com/office/drawing/2014/main" id="{27804495-D3B9-3A4F-6E8C-6828C65B23DB}"/>
              </a:ext>
            </a:extLst>
          </p:cNvPr>
          <p:cNvSpPr txBox="1"/>
          <p:nvPr/>
        </p:nvSpPr>
        <p:spPr>
          <a:xfrm>
            <a:off x="374922" y="111012"/>
            <a:ext cx="5058101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Prison capacity divides Europe: North vs South divergence in 2022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76E8AA-DFB7-2CF2-A6CB-EAB8C936B9E0}"/>
              </a:ext>
            </a:extLst>
          </p:cNvPr>
          <p:cNvSpPr txBox="1"/>
          <p:nvPr/>
        </p:nvSpPr>
        <p:spPr>
          <a:xfrm>
            <a:off x="5797899" y="1009259"/>
            <a:ext cx="334423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Bar chart comparison (2022) analyzing regional prison capacity patterns across 35 European countries, segmented into Northern Europe (18), Southern Europe (13) and smaller systems (4).</a:t>
            </a:r>
          </a:p>
          <a:p>
            <a:pPr algn="l">
              <a:buNone/>
            </a:pPr>
            <a:endParaRPr lang="en-US" sz="10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Key Insights</a:t>
            </a:r>
          </a:p>
          <a:p>
            <a:pPr algn="l">
              <a:buNone/>
            </a:pPr>
            <a:endParaRPr lang="en-US" sz="1000" dirty="0">
              <a:solidFill>
                <a:srgbClr val="333333"/>
              </a:solidFill>
              <a:latin typeface="Lekton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Lekton"/>
              </a:rPr>
              <a:t>Northern Europe leads in capacity management</a:t>
            </a:r>
            <a:r>
              <a:rPr lang="en-US" sz="1000" dirty="0">
                <a:solidFill>
                  <a:srgbClr val="333333"/>
                </a:solidFill>
                <a:latin typeface="Lekton"/>
              </a:rPr>
              <a:t>: mean occupancy of 90.40% indicates systematic efficiency, with controlled variance (min 62.20%, max 119%)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Southern Europe approaches threshold: mean occupancy of 96.40% remains below 100% at aggregate level, yet proximity to capacity threshold signals structural strain, with ceiling at 117.70%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Micro-countries exhibit extreme volatility and are therefore analyzed separately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Lekton"/>
              </a:rPr>
              <a:t>Regional disparity is structural</a:t>
            </a:r>
            <a:r>
              <a:rPr lang="en-US" sz="1000" dirty="0">
                <a:solidFill>
                  <a:srgbClr val="333333"/>
                </a:solidFill>
                <a:latin typeface="Lekton"/>
              </a:rPr>
              <a:t>: the 6-point gap between North (90.39%) and South (96.35%)</a:t>
            </a:r>
          </a:p>
        </p:txBody>
      </p:sp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5303FAA-BC84-DBED-7A80-5E8FF64CC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3881"/>
            <a:ext cx="5797898" cy="318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040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F669D2EF-7B36-BD65-BF47-CBF850A2B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>
            <a:extLst>
              <a:ext uri="{FF2B5EF4-FFF2-40B4-BE49-F238E27FC236}">
                <a16:creationId xmlns:a16="http://schemas.microsoft.com/office/drawing/2014/main" id="{2AFF59E7-00A9-0D82-4499-09DB8223111B}"/>
              </a:ext>
            </a:extLst>
          </p:cNvPr>
          <p:cNvSpPr txBox="1"/>
          <p:nvPr/>
        </p:nvSpPr>
        <p:spPr>
          <a:xfrm>
            <a:off x="567000" y="269169"/>
            <a:ext cx="8010000" cy="29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European Prison Overcrowding: Key Findings</a:t>
            </a: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2" name="Google Shape;164;p31">
            <a:extLst>
              <a:ext uri="{FF2B5EF4-FFF2-40B4-BE49-F238E27FC236}">
                <a16:creationId xmlns:a16="http://schemas.microsoft.com/office/drawing/2014/main" id="{2B4D5C9D-EA9D-FC42-A380-AB99FC4B5B88}"/>
              </a:ext>
            </a:extLst>
          </p:cNvPr>
          <p:cNvSpPr txBox="1"/>
          <p:nvPr/>
        </p:nvSpPr>
        <p:spPr>
          <a:xfrm>
            <a:off x="895500" y="894043"/>
            <a:ext cx="7353000" cy="4119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Structural overcrowding persists: 11+ European countries exceed 100% occupancy consistently across the 2014–2022 decade, indicating systemic rather than cyclical patterns</a:t>
            </a:r>
          </a:p>
          <a:p>
            <a:pPr marL="171450" indent="-171450">
              <a:spcBef>
                <a:spcPts val="10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North-South capacity buffer disparity: Northern systems operate with ~10% capacity margin above current occupancy; Southern systems operate with ~4% margin—creating differential structural resilience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Hungary's downward trajectory: prison occupancy declined from 142.16% (2014) to 103.51% (2022) a 38.65-point reduction demonstrates long-term trend reversal is empirically possible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Croatia's inverse pattern: prison occupancy rose from 93.56% (2014) to 104.18% (2022), indicating divergent regional trajectories despite similar geographic proximity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Micro-systems show extreme volatility: smaller jurisdictions (Cyprus, Iceland, Liechtenstein, Malta) exhibit 50–205 percentage-point swings across the decade, reflecting the amplified impact of population-scale variations</a:t>
            </a:r>
          </a:p>
        </p:txBody>
      </p:sp>
    </p:spTree>
    <p:extLst>
      <p:ext uri="{BB962C8B-B14F-4D97-AF65-F5344CB8AC3E}">
        <p14:creationId xmlns:p14="http://schemas.microsoft.com/office/powerpoint/2010/main" val="4183825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>
            <a:spLocks noGrp="1"/>
          </p:cNvSpPr>
          <p:nvPr>
            <p:ph type="body" idx="1"/>
          </p:nvPr>
        </p:nvSpPr>
        <p:spPr>
          <a:xfrm>
            <a:off x="540000" y="860724"/>
            <a:ext cx="3288900" cy="344398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b="1" dirty="0">
                <a:latin typeface="Titillium Web"/>
                <a:ea typeface="Titillium Web"/>
                <a:cs typeface="Titillium Web"/>
                <a:sym typeface="Titillium Web"/>
              </a:rPr>
              <a:t>“Prison overcrowding” 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333333"/>
                </a:solidFill>
                <a:sym typeface="Titillium Web"/>
              </a:rPr>
              <a:t>by Giorgio Evola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333333"/>
                </a:solidFill>
                <a:sym typeface="Titillium Web"/>
              </a:rPr>
              <a:t>Developed using data from the Eurostat database, with charts and analyses produced in Python.</a:t>
            </a:r>
          </a:p>
          <a:p>
            <a:pPr marL="0" lvl="0" indent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333333"/>
                </a:solidFill>
              </a:rPr>
              <a:t>Dataset: </a:t>
            </a:r>
            <a:r>
              <a:rPr lang="en-US" sz="1400" dirty="0">
                <a:solidFill>
                  <a:srgbClr val="333333"/>
                </a:solidFill>
              </a:rPr>
              <a:t>Eurostat Prison capacity and number of persons held (last update 23/04/2025 11:00).</a:t>
            </a:r>
          </a:p>
        </p:txBody>
      </p:sp>
      <p:sp>
        <p:nvSpPr>
          <p:cNvPr id="192" name="Google Shape;192;p36"/>
          <p:cNvSpPr txBox="1"/>
          <p:nvPr/>
        </p:nvSpPr>
        <p:spPr>
          <a:xfrm>
            <a:off x="4770000" y="860725"/>
            <a:ext cx="3780000" cy="20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Slides</a:t>
            </a:r>
            <a:r>
              <a:rPr lang="it" sz="1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are shared with the following license:</a:t>
            </a:r>
            <a:endParaRPr sz="1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Lekton"/>
                <a:ea typeface="Lekton"/>
                <a:cs typeface="Lekton"/>
                <a:sym typeface="Lekton"/>
              </a:rPr>
              <a:t>Prison overcrowding © 2025 by Giorgio Evola is licensed under CC BY-SA 4.0. To view a copy of this license, visit https://creativecommons.org/licenses/by-sa/4.0/</a:t>
            </a:r>
            <a:endParaRPr b="1" dirty="0">
              <a:solidFill>
                <a:schemeClr val="dk1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</TotalTime>
  <Words>1474</Words>
  <Application>Microsoft Office PowerPoint</Application>
  <PresentationFormat>On-screen Show (16:9)</PresentationFormat>
  <Paragraphs>130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Titillium Web</vt:lpstr>
      <vt:lpstr>Arial</vt:lpstr>
      <vt:lpstr>Lekton</vt:lpstr>
      <vt:lpstr>Simple Light</vt:lpstr>
      <vt:lpstr>Data Visualization Pitch Student  Individual Assignment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Pitch Student  Individual Assignment</dc:title>
  <dc:creator>Giorgio Francesco Evola</dc:creator>
  <cp:lastModifiedBy>Giorgio Francesco Evola</cp:lastModifiedBy>
  <cp:revision>35</cp:revision>
  <dcterms:modified xsi:type="dcterms:W3CDTF">2026-01-23T18:12:37Z</dcterms:modified>
</cp:coreProperties>
</file>