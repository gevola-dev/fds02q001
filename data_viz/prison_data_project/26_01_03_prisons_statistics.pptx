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4"/>
  </p:notesMasterIdLst>
  <p:sldIdLst>
    <p:sldId id="258" r:id="rId2"/>
    <p:sldId id="263" r:id="rId3"/>
    <p:sldId id="264" r:id="rId4"/>
    <p:sldId id="265" r:id="rId5"/>
    <p:sldId id="266" r:id="rId6"/>
    <p:sldId id="268" r:id="rId7"/>
    <p:sldId id="279" r:id="rId8"/>
    <p:sldId id="282" r:id="rId9"/>
    <p:sldId id="283" r:id="rId10"/>
    <p:sldId id="284" r:id="rId11"/>
    <p:sldId id="277" r:id="rId12"/>
    <p:sldId id="271" r:id="rId13"/>
  </p:sldIdLst>
  <p:sldSz cx="9144000" cy="5143500" type="screen16x9"/>
  <p:notesSz cx="6858000" cy="9144000"/>
  <p:embeddedFontLst>
    <p:embeddedFont>
      <p:font typeface="Lekton" panose="020B0604020202020204" charset="0"/>
      <p:regular r:id="rId15"/>
      <p:bold r:id="rId16"/>
      <p:italic r:id="rId17"/>
    </p:embeddedFont>
    <p:embeddedFont>
      <p:font typeface="Titillium Web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86">
          <p15:clr>
            <a:srgbClr val="A4A3A4"/>
          </p15:clr>
        </p15:guide>
        <p15:guide id="2" pos="2098">
          <p15:clr>
            <a:srgbClr val="A4A3A4"/>
          </p15:clr>
        </p15:guide>
        <p15:guide id="3" pos="2324">
          <p15:clr>
            <a:srgbClr val="A4A3A4"/>
          </p15:clr>
        </p15:guide>
        <p15:guide id="4" pos="340">
          <p15:clr>
            <a:srgbClr val="A4A3A4"/>
          </p15:clr>
        </p15:guide>
        <p15:guide id="5" pos="2977">
          <p15:clr>
            <a:srgbClr val="A4A3A4"/>
          </p15:clr>
        </p15:guide>
        <p15:guide id="6" orient="horz" pos="737">
          <p15:clr>
            <a:srgbClr val="A4A3A4"/>
          </p15:clr>
        </p15:guide>
        <p15:guide id="7" orient="horz" pos="3005">
          <p15:clr>
            <a:srgbClr val="A4A3A4"/>
          </p15:clr>
        </p15:guide>
        <p15:guide id="8" orient="horz" pos="1757">
          <p15:clr>
            <a:srgbClr val="A4A3A4"/>
          </p15:clr>
        </p15:guide>
        <p15:guide id="9" orient="horz" pos="542">
          <p15:clr>
            <a:srgbClr val="A4A3A4"/>
          </p15:clr>
        </p15:guide>
        <p15:guide id="10" orient="horz" pos="10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14"/>
      </p:cViewPr>
      <p:guideLst>
        <p:guide pos="5386"/>
        <p:guide pos="2098"/>
        <p:guide pos="2324"/>
        <p:guide pos="340"/>
        <p:guide pos="2977"/>
        <p:guide orient="horz" pos="737"/>
        <p:guide orient="horz" pos="3005"/>
        <p:guide orient="horz" pos="1757"/>
        <p:guide orient="horz" pos="542"/>
        <p:guide orient="horz" pos="10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371192460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371192460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2f6af15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a2f6af15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408aeda40d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408aeda40d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408aeda40d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408aeda40d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408aeda40d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408aeda40d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35310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8745443A-062E-2D42-FEA7-609D8D23D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>
            <a:extLst>
              <a:ext uri="{FF2B5EF4-FFF2-40B4-BE49-F238E27FC236}">
                <a16:creationId xmlns:a16="http://schemas.microsoft.com/office/drawing/2014/main" id="{6643CCF2-B284-B853-3A08-EF407DB89A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>
            <a:extLst>
              <a:ext uri="{FF2B5EF4-FFF2-40B4-BE49-F238E27FC236}">
                <a16:creationId xmlns:a16="http://schemas.microsoft.com/office/drawing/2014/main" id="{7309A12A-D1C3-B370-3DB7-89A21E57A8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51354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E0F8DBC1-AC6C-B220-8696-75AE23247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>
            <a:extLst>
              <a:ext uri="{FF2B5EF4-FFF2-40B4-BE49-F238E27FC236}">
                <a16:creationId xmlns:a16="http://schemas.microsoft.com/office/drawing/2014/main" id="{7668E46D-0AD6-470A-CD17-323F46E38C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>
            <a:extLst>
              <a:ext uri="{FF2B5EF4-FFF2-40B4-BE49-F238E27FC236}">
                <a16:creationId xmlns:a16="http://schemas.microsoft.com/office/drawing/2014/main" id="{F47DBD32-F7EF-A51E-7EFB-F2C5C42F15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2723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75FF8FEE-581E-9FEE-5ECF-38B75973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>
            <a:extLst>
              <a:ext uri="{FF2B5EF4-FFF2-40B4-BE49-F238E27FC236}">
                <a16:creationId xmlns:a16="http://schemas.microsoft.com/office/drawing/2014/main" id="{E77A8B53-EBA2-1042-3610-3C46C72EED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>
            <a:extLst>
              <a:ext uri="{FF2B5EF4-FFF2-40B4-BE49-F238E27FC236}">
                <a16:creationId xmlns:a16="http://schemas.microsoft.com/office/drawing/2014/main" id="{8EC29AE9-E525-0F1B-27A9-AD8100CF2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2301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8C0D06C7-5F7E-A958-473F-9F574A25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>
            <a:extLst>
              <a:ext uri="{FF2B5EF4-FFF2-40B4-BE49-F238E27FC236}">
                <a16:creationId xmlns:a16="http://schemas.microsoft.com/office/drawing/2014/main" id="{CC72C94B-4A94-2E85-90DA-9CCDAA4AC7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>
            <a:extLst>
              <a:ext uri="{FF2B5EF4-FFF2-40B4-BE49-F238E27FC236}">
                <a16:creationId xmlns:a16="http://schemas.microsoft.com/office/drawing/2014/main" id="{E8868129-8208-80B2-23ED-C4FD61342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7891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71748b72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a71748b72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l titolo 1">
  <p:cSld name="TITL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Font typeface="Lekton"/>
              <a:buNone/>
              <a:defRPr sz="4200" b="1">
                <a:latin typeface="Lekton"/>
                <a:ea typeface="Lekton"/>
                <a:cs typeface="Lekton"/>
                <a:sym typeface="Lekton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67500" y="3427050"/>
            <a:ext cx="7557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/>
          <p:nvPr/>
        </p:nvSpPr>
        <p:spPr>
          <a:xfrm>
            <a:off x="726825" y="257900"/>
            <a:ext cx="6957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1578700"/>
            <a:ext cx="8520300" cy="141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Lekton"/>
              <a:buNone/>
              <a:defRPr sz="3000" b="1"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250825" y="3032375"/>
            <a:ext cx="42984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333333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della sezione 1">
  <p:cSld name="SECTION_HEADER_1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461300" y="1594350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2"/>
          </p:nvPr>
        </p:nvSpPr>
        <p:spPr>
          <a:xfrm>
            <a:off x="461250" y="3253963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4439150" y="100"/>
            <a:ext cx="4704900" cy="51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837675" y="1656850"/>
            <a:ext cx="3288900" cy="291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3117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body" idx="2"/>
          </p:nvPr>
        </p:nvSpPr>
        <p:spPr>
          <a:xfrm>
            <a:off x="48324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">
  <p:cSld name="SECTION_TITLE_AND_DESCRIPTION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D66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">
  <p:cSld name="SECTION_TITLE_AND_DESCRIPTION_1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pic>
        <p:nvPicPr>
          <p:cNvPr id="39" name="Google Shape;3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1175" y="-96750"/>
            <a:ext cx="9386000" cy="5293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">
  <p:cSld name="SECTION_TITLE_AND_DESCRIPTION_1_1_1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10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" name="Google Shape;45;p10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3333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2">
  <p:cSld name="SECTION_TITLE_AND_DESCRIPTION_1_1_1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52250"/>
            <a:ext cx="9338651" cy="5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1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11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1">
  <p:cSld name="CUSTOM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Google Shape;55;p12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" name="Google Shape;56;p12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C678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">
  <p:cSld name="SECTION_TITLE_AND_DESCRIPTION_1_1_1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0075"/>
            <a:ext cx="9354474" cy="527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63" name="Google Shape;63;p13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2">
  <p:cSld name="CUSTOM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4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8F44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">
  <p:cSld name="SECTION_TITLE_AND_DESCRIPTION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075" y="-87875"/>
            <a:ext cx="9370249" cy="52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74" name="Google Shape;74;p15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3">
  <p:cSld name="CUSTOM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oogle Shape;77;p16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6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22E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 1">
  <p:cSld name="SECTION_TITLE_AND_DESCRIPTION_1_1_1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8950"/>
            <a:ext cx="9417551" cy="53114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85" name="Google Shape;85;p17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" name="Google Shape;86;p17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65814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None/>
              <a:defRPr b="1">
                <a:latin typeface="Lekton"/>
                <a:ea typeface="Lekton"/>
                <a:cs typeface="Lekton"/>
                <a:sym typeface="Lekton"/>
              </a:defRPr>
            </a:lvl1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66B55"/>
              </a:buClr>
              <a:buSzPts val="20000"/>
              <a:buFont typeface="Lekton"/>
              <a:buNone/>
              <a:defRPr sz="20000" b="1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1"/>
          </p:nvPr>
        </p:nvSpPr>
        <p:spPr>
          <a:xfrm>
            <a:off x="2430575" y="2993300"/>
            <a:ext cx="42048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2"/>
          </p:nvPr>
        </p:nvSpPr>
        <p:spPr>
          <a:xfrm>
            <a:off x="2430575" y="3477850"/>
            <a:ext cx="4204800" cy="118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c.europa.eu/eurostat/databrowser/view/crim_pris_cap/default/table?lang=e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025A77F-518F-5BB5-D41C-225838A28C9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oup of people in a room">
            <a:extLst>
              <a:ext uri="{FF2B5EF4-FFF2-40B4-BE49-F238E27FC236}">
                <a16:creationId xmlns:a16="http://schemas.microsoft.com/office/drawing/2014/main" id="{1C612A77-5509-597F-3D7E-028EBE6A3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37" y="55500"/>
            <a:ext cx="8791125" cy="502350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6" name="Google Shape;116;p23"/>
          <p:cNvSpPr txBox="1">
            <a:spLocks noGrp="1"/>
          </p:cNvSpPr>
          <p:nvPr>
            <p:ph type="ctrTitle"/>
          </p:nvPr>
        </p:nvSpPr>
        <p:spPr>
          <a:xfrm>
            <a:off x="0" y="4380026"/>
            <a:ext cx="4584900" cy="84239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/>
              <a:t>Data Visualization Pitch</a:t>
            </a:r>
            <a:endParaRPr sz="18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it" sz="1400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 Individual Assignment</a:t>
            </a:r>
            <a:endParaRPr sz="1800" dirty="0"/>
          </a:p>
        </p:txBody>
      </p:sp>
      <p:sp>
        <p:nvSpPr>
          <p:cNvPr id="117" name="Google Shape;117;p23"/>
          <p:cNvSpPr txBox="1"/>
          <p:nvPr/>
        </p:nvSpPr>
        <p:spPr>
          <a:xfrm>
            <a:off x="4559225" y="4275600"/>
            <a:ext cx="45849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b="1" dirty="0">
                <a:latin typeface="Titillium Web"/>
                <a:ea typeface="Titillium Web"/>
                <a:cs typeface="Titillium Web"/>
                <a:sym typeface="Titillium Web"/>
              </a:rPr>
              <a:t>Student name: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Giorgio Evola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ID: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932861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e-mail address: </a:t>
            </a:r>
            <a:r>
              <a:rPr lang="en-US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g.evola2@campus.unimib.it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119" name="Google Shape;119;p23"/>
          <p:cNvSpPr txBox="1"/>
          <p:nvPr/>
        </p:nvSpPr>
        <p:spPr>
          <a:xfrm>
            <a:off x="2265050" y="547251"/>
            <a:ext cx="4584900" cy="24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chemeClr val="bg1"/>
                </a:solidFill>
                <a:latin typeface="Lekton"/>
                <a:ea typeface="Lekton"/>
                <a:cs typeface="Lekton"/>
                <a:sym typeface="Lekton"/>
              </a:rPr>
              <a:t> </a:t>
            </a:r>
            <a:r>
              <a:rPr lang="en-US" sz="4800" b="1" dirty="0">
                <a:solidFill>
                  <a:srgbClr val="D66B55"/>
                </a:solidFill>
                <a:latin typeface="Lekton"/>
                <a:sym typeface="Lekton"/>
              </a:rPr>
              <a:t>Prison Overcrowding</a:t>
            </a:r>
            <a:endParaRPr sz="1800" b="1" dirty="0">
              <a:solidFill>
                <a:srgbClr val="D66B55"/>
              </a:solidFill>
              <a:latin typeface="Lekton"/>
              <a:sym typeface="Lekto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8"/>
          <p:cNvSpPr txBox="1"/>
          <p:nvPr/>
        </p:nvSpPr>
        <p:spPr>
          <a:xfrm>
            <a:off x="540000" y="384724"/>
            <a:ext cx="8010000" cy="4335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Research questions</a:t>
            </a: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  <a:p>
            <a:pPr lvl="0">
              <a:lnSpc>
                <a:spcPct val="115000"/>
              </a:lnSpc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Which are the European countries with the highest prison overcrowding in the 2022, and how has their occupancy rate evolved over time?</a:t>
            </a:r>
          </a:p>
          <a:p>
            <a:pPr lvl="0">
              <a:lnSpc>
                <a:spcPct val="115000"/>
              </a:lnSpc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​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How many European countries exceed 100% prison occupancy rate in the 2022?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Which countries have been most successful in keeping occupancy below capacity in the 2022?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What are the regional differences (North vs South Europe) in prison overcrowding?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Lekton"/>
                <a:ea typeface="Lekton"/>
                <a:cs typeface="Lekton"/>
                <a:sym typeface="Lekton"/>
              </a:rPr>
              <a:t>Are their trends improving, stable, or worsening over the 2014–2022 period, compared to the overall European average?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/>
          <p:cNvSpPr txBox="1"/>
          <p:nvPr/>
        </p:nvSpPr>
        <p:spPr>
          <a:xfrm>
            <a:off x="540000" y="384724"/>
            <a:ext cx="8010000" cy="459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About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Dataset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Eurostat Prison capacity and number of persons held (</a:t>
            </a:r>
            <a:r>
              <a:rPr lang="en-US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  <a:hlinkClick r:id="rId3"/>
              </a:rPr>
              <a:t>eurostat</a:t>
            </a: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Temporal coverage: 2014–2022 (9 years)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Geographic scope: 37 European countries (EU27 + Balkans + Nordic countries)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Total records: 1,454 observations</a:t>
            </a:r>
          </a:p>
          <a:p>
            <a:pPr lvl="0">
              <a:spcBef>
                <a:spcPts val="1000"/>
              </a:spcBef>
            </a:pPr>
            <a:endParaRPr lang="en-US" b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lvl="0">
              <a:spcBef>
                <a:spcPts val="1000"/>
              </a:spcBef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Known issues</a:t>
            </a:r>
          </a:p>
          <a:p>
            <a:pPr lvl="0"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Some small countries (Liechtenstein, Cyprus, Malta) have volatile year-to-year variations due to small prison population</a:t>
            </a:r>
          </a:p>
          <a:p>
            <a:pPr lvl="0"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Missing data for a few countries in specific years (e.g. North Macedonia: only 2016–2023)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FC2E6005-0B0D-4879-B1D2-FB7B3587BC9A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9" name="Google Shape;159;p30"/>
          <p:cNvSpPr txBox="1"/>
          <p:nvPr/>
        </p:nvSpPr>
        <p:spPr>
          <a:xfrm>
            <a:off x="2265903" y="111777"/>
            <a:ext cx="4572000" cy="275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Methodology</a:t>
            </a: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96A8028-6E19-4E1C-AF14-AC2D7C7997FE}"/>
              </a:ext>
            </a:extLst>
          </p:cNvPr>
          <p:cNvSpPr txBox="1"/>
          <p:nvPr/>
        </p:nvSpPr>
        <p:spPr>
          <a:xfrm>
            <a:off x="0" y="387071"/>
            <a:ext cx="457200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>
              <a:solidFill>
                <a:srgbClr val="333333"/>
              </a:solidFill>
              <a:latin typeface="Lekton"/>
            </a:endParaRPr>
          </a:p>
          <a:p>
            <a:r>
              <a:rPr lang="en-US" b="1" dirty="0">
                <a:solidFill>
                  <a:srgbClr val="333333"/>
                </a:solidFill>
                <a:latin typeface="Lekton"/>
              </a:rPr>
              <a:t>Software &amp; Libraries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Python 3.12 (</a:t>
            </a:r>
            <a:r>
              <a:rPr lang="en-US" dirty="0" err="1">
                <a:solidFill>
                  <a:srgbClr val="333333"/>
                </a:solidFill>
                <a:latin typeface="Lekton"/>
              </a:rPr>
              <a:t>Jupyter</a:t>
            </a:r>
            <a:r>
              <a:rPr lang="en-US" dirty="0">
                <a:solidFill>
                  <a:srgbClr val="333333"/>
                </a:solidFill>
                <a:latin typeface="Lekton"/>
              </a:rPr>
              <a:t> Notebook environment)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pandas (data manipulation, pivot tables, filtering)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333333"/>
                </a:solidFill>
                <a:latin typeface="Lekton"/>
              </a:rPr>
              <a:t>plotly</a:t>
            </a:r>
            <a:r>
              <a:rPr lang="en-US" dirty="0">
                <a:solidFill>
                  <a:srgbClr val="333333"/>
                </a:solidFill>
                <a:latin typeface="Lekton"/>
              </a:rPr>
              <a:t> (interactive visualization)</a:t>
            </a:r>
          </a:p>
          <a:p>
            <a:endParaRPr lang="en-US" dirty="0">
              <a:solidFill>
                <a:srgbClr val="333333"/>
              </a:solidFill>
              <a:latin typeface="Lekton"/>
            </a:endParaRPr>
          </a:p>
          <a:p>
            <a:r>
              <a:rPr lang="en-US" b="1" dirty="0">
                <a:solidFill>
                  <a:srgbClr val="333333"/>
                </a:solidFill>
                <a:latin typeface="Lekton"/>
              </a:rPr>
              <a:t>Methodology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Built a </a:t>
            </a:r>
            <a:r>
              <a:rPr lang="en-US" dirty="0" err="1">
                <a:solidFill>
                  <a:srgbClr val="333333"/>
                </a:solidFill>
                <a:latin typeface="Lekton"/>
              </a:rPr>
              <a:t>Jupyter</a:t>
            </a:r>
            <a:r>
              <a:rPr lang="en-US" dirty="0">
                <a:solidFill>
                  <a:srgbClr val="333333"/>
                </a:solidFill>
                <a:latin typeface="Lekton"/>
              </a:rPr>
              <a:t> notebook workflow to read, standardize, and normalize prison data from CSV files using pandas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Created reusable Python functions in a dedicated module (prisons_data_analysis.py) for data transformation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Each function outputs an intermediate CSV, serving as input for visualization and further analysis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Generated charts directly from intermediate CSVs using </a:t>
            </a:r>
            <a:r>
              <a:rPr lang="en-US" dirty="0" err="1">
                <a:solidFill>
                  <a:srgbClr val="333333"/>
                </a:solidFill>
                <a:latin typeface="Lekton"/>
              </a:rPr>
              <a:t>Plotly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Created a European prison overcrowding map (2022) using Data Wrapper Choropleth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3541C0F-8638-4738-9EF6-FAE81157F366}"/>
              </a:ext>
            </a:extLst>
          </p:cNvPr>
          <p:cNvSpPr txBox="1"/>
          <p:nvPr/>
        </p:nvSpPr>
        <p:spPr>
          <a:xfrm>
            <a:off x="4531806" y="387071"/>
            <a:ext cx="45720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>
              <a:solidFill>
                <a:srgbClr val="333333"/>
              </a:solidFill>
              <a:latin typeface="Lekton"/>
            </a:endParaRPr>
          </a:p>
          <a:p>
            <a:r>
              <a:rPr lang="en-US" b="1" dirty="0">
                <a:solidFill>
                  <a:srgbClr val="333333"/>
                </a:solidFill>
                <a:latin typeface="Lekton"/>
              </a:rPr>
              <a:t>Processing Steps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Read CSV and standardized column names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Converted TIME_PERIOD to integer years and pivoted data by country/year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Calculated occupancy rate: (prisoners/capacity) × 100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Normalized all rates as percentages for consistency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Identified countries exceeding 100% prison occupancy in 2022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Extracted the top 10 most overcrowded countries (2022)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Segmented countries into North/South regions and compared statistics (mean, min, max, count)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Generated time series for 4 countries with occupancy &lt; 1,000 inmates (Iceland, Malta, Cyprus, Liechtenstein)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Used LLM Copilot (Visual Studio Code) for code review and validation</a:t>
            </a:r>
            <a:endParaRPr lang="it-IT" dirty="0">
              <a:solidFill>
                <a:srgbClr val="333333"/>
              </a:solidFill>
              <a:latin typeface="Lekto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1"/>
          <p:cNvSpPr txBox="1"/>
          <p:nvPr/>
        </p:nvSpPr>
        <p:spPr>
          <a:xfrm>
            <a:off x="679500" y="521229"/>
            <a:ext cx="7353000" cy="4517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The following analysis examines </a:t>
            </a:r>
            <a:r>
              <a:rPr lang="en-US" sz="10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35 European countries by prison occupancy rates</a:t>
            </a: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(2014–2022)</a:t>
            </a:r>
          </a:p>
          <a:p>
            <a:pPr marL="171450" lvl="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13 countries (35%) exceed 100% occupancy → Overcrowding crisis - Range: 110%–263% occupancy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8 countries (22%) maintain &lt;80% occupancy → Well-managed systems - Range: 56%–78% occupancy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14 countries (43%) occupy 80–100% range → Manageable, near-capacity - Range: 80%–100% occupancy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Polarized Europe revealed: One-third faces emergency overcrowding, while one-fifth demonstrates sustainable prison management—a stark divide.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10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Small countries show extreme volatility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Liechtenstein, Cyprus, Malta: Year-to-year swings of 20–40 percentage points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Likely cause: small absolute populations, one criminal case or immigration surge dramatically shifts occupancy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Methodological implication: these countries require separate analysis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endParaRPr lang="en-US" sz="10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0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Geographic patterns - north vs south Europe</a:t>
            </a:r>
          </a:p>
          <a:p>
            <a:pPr marL="171450" lvl="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Northern Europe (20 countries: Nordic + UK, Ireland, Netherlands, Germany, Austria, etc.)</a:t>
            </a:r>
          </a:p>
          <a:p>
            <a:pPr marL="171450" lvl="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Southern Europe (15 countries: Italy, Spain, Portugal, Greece, Balkans, etc.)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This regional subdivision reveals significant structural differences in overcrowding levels, suggesting distinct policy approaches, capacity investment strategies, and incarceration philosophies across Europe.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endParaRPr lang="en-US" sz="10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35CBA0-E066-FDB0-BF0C-C96994F9A397}"/>
              </a:ext>
            </a:extLst>
          </p:cNvPr>
          <p:cNvSpPr txBox="1"/>
          <p:nvPr/>
        </p:nvSpPr>
        <p:spPr>
          <a:xfrm>
            <a:off x="2070000" y="15189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Insights from the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F3B5391F-CCE7-653F-842F-786285D02B8C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5" name="Google Shape;175;p33"/>
          <p:cNvSpPr txBox="1"/>
          <p:nvPr/>
        </p:nvSpPr>
        <p:spPr>
          <a:xfrm>
            <a:off x="5356799" y="75349"/>
            <a:ext cx="3684493" cy="1020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prison overcrowding map in 2022</a:t>
            </a:r>
            <a:endParaRPr i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32C00-CB1F-6C74-C042-647A29556A18}"/>
              </a:ext>
            </a:extLst>
          </p:cNvPr>
          <p:cNvSpPr txBox="1"/>
          <p:nvPr/>
        </p:nvSpPr>
        <p:spPr>
          <a:xfrm>
            <a:off x="5356798" y="1095934"/>
            <a:ext cx="3684494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Color scheme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Orange: &lt;80% (good, below capacity)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Pink: 80–100% (acceptable, at capacity)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Violet: 100–110% (overcrowded, critical)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Blue: &gt;110% (severe overcrowding, emergency)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What the map shows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13 countries highlighted in violet/blue: Exceeding 100% capacity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Top 3 worst: France (118.96%), Turkey (117.70%), Romania (112.21%)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EU27 average: 95.7%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Best performers: Estonia, Malta, Latvia, Bulgaria, Ireland (62–75%)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Key insight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Prison overcrowding is concentrated in Southern and Central Europe, not uniformly distributed. Northern European countries successfully maintain capacity well below 100%, suggesting policy/system differences.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BB7AC9C1-FC0B-428B-B8CB-C91A6F5CFFB1}"/>
              </a:ext>
            </a:extLst>
          </p:cNvPr>
          <p:cNvSpPr/>
          <p:nvPr/>
        </p:nvSpPr>
        <p:spPr>
          <a:xfrm>
            <a:off x="3897961" y="4457700"/>
            <a:ext cx="258298" cy="1748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38D9982-2609-445F-A488-2B0444007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297293" cy="5143500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11975591-C782-49F1-A320-D0CE0ECDEE3B}"/>
              </a:ext>
            </a:extLst>
          </p:cNvPr>
          <p:cNvSpPr/>
          <p:nvPr/>
        </p:nvSpPr>
        <p:spPr>
          <a:xfrm>
            <a:off x="4156259" y="4457699"/>
            <a:ext cx="173694" cy="1748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85CD9628-0A4C-99FD-D0BC-D69B72DC99F9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/>
          <p:cNvSpPr txBox="1"/>
          <p:nvPr/>
        </p:nvSpPr>
        <p:spPr>
          <a:xfrm>
            <a:off x="369898" y="95939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countries exceed 100% prison occupancy in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15ACC2-9BD0-A397-E2B5-AA9B98489E73}"/>
              </a:ext>
            </a:extLst>
          </p:cNvPr>
          <p:cNvSpPr txBox="1"/>
          <p:nvPr/>
        </p:nvSpPr>
        <p:spPr>
          <a:xfrm>
            <a:off x="5797899" y="1009259"/>
            <a:ext cx="334423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(2014–2022) showing prison occupancy rate evolution across European countries exceeding 100% capacity,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excluding smaller countries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10-year horizon: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overcrowding is not temporary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 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it's a structural issue in Southern Europe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Regional patterns: countries like France, Belgium, Italy and Romania show sustained overcrowding, indicating systemic capacity deficits rather than cyclical pressures</a:t>
            </a:r>
          </a:p>
          <a:p>
            <a:pPr algn="l"/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/>
            <a:r>
              <a:rPr lang="en-US" sz="1000" dirty="0">
                <a:solidFill>
                  <a:srgbClr val="333333"/>
                </a:solidFill>
                <a:latin typeface="Lekton"/>
              </a:rPr>
              <a:t>Divergent trajectories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lvl="2" indent="-171450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Hungary displays a consistent downward trend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 declining from 142% (2014) to 104% (2022), suggesting successful prison decongestion policies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Croatia shows the opposite pattern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 rising from 94% (2014) to 104% (2022), indicating worsening overcrowding despite initial lower capacity pressure</a:t>
            </a:r>
          </a:p>
        </p:txBody>
      </p:sp>
      <p:pic>
        <p:nvPicPr>
          <p:cNvPr id="7" name="Picture 6" descr="A graph with colorful lines and numbers">
            <a:extLst>
              <a:ext uri="{FF2B5EF4-FFF2-40B4-BE49-F238E27FC236}">
                <a16:creationId xmlns:a16="http://schemas.microsoft.com/office/drawing/2014/main" id="{3ECF36DD-9113-490A-7FBB-1499BDB44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5291"/>
            <a:ext cx="5797899" cy="289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08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9EFE0D3A-6FBE-B5C5-C137-0C9C1A6D7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D1FA6EAC-7FCB-D83C-FAC0-01AE45D4C290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BB214E10-E796-40AE-0C98-7E1C0FD800E4}"/>
              </a:ext>
            </a:extLst>
          </p:cNvPr>
          <p:cNvSpPr txBox="1"/>
          <p:nvPr/>
        </p:nvSpPr>
        <p:spPr>
          <a:xfrm>
            <a:off x="369898" y="95939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Prison capacity management success across Europe in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A12B2-647C-9419-78E4-713D9C9F023D}"/>
              </a:ext>
            </a:extLst>
          </p:cNvPr>
          <p:cNvSpPr txBox="1"/>
          <p:nvPr/>
        </p:nvSpPr>
        <p:spPr>
          <a:xfrm>
            <a:off x="5797899" y="1009259"/>
            <a:ext cx="334423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(2014–2022) showing prison occupancy rates for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10 European countries consistently maintaining capacity below 100%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 demonstrating effective prison management systems.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Consistent capacity management: countries like Estonia, Bulgaria, Malta, and Lithuania have achieved sustained occupancy rates well below 100%, with rates ranging from 58–79% in 2022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Diverse starting points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: while Estonia started above 100% (102.43% in 2014), it successfully decongested to 62.18% by 2022—demonstrating that capacity reform is achievable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Stable trajectories: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Germany and Spain maintain steady, moderate occupancy rates 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(79% and 75% respectively), reflecting long-term prison management sustainability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Policy success model: These countries represent best-practice examples of prison system organization, particularly through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strategic decongestion policies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 (visible in Estonia and Bulgaria)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67405-BD1E-95F9-D98C-5F86271815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452610"/>
            <a:ext cx="5797900" cy="289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86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0EB18DB0-2CB3-9551-CE97-8EE1961F5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6C9041E5-8E26-F5FE-A89F-7E8B20928106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207A22B4-D393-4CCF-AD74-50D3D690E8E9}"/>
              </a:ext>
            </a:extLst>
          </p:cNvPr>
          <p:cNvSpPr txBox="1"/>
          <p:nvPr/>
        </p:nvSpPr>
        <p:spPr>
          <a:xfrm>
            <a:off x="374922" y="111012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Prison population trends in smaller European systems (2014–2022)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8EFE5-5C57-AD28-FDC8-297C9E1E8754}"/>
              </a:ext>
            </a:extLst>
          </p:cNvPr>
          <p:cNvSpPr txBox="1"/>
          <p:nvPr/>
        </p:nvSpPr>
        <p:spPr>
          <a:xfrm>
            <a:off x="5797899" y="1009259"/>
            <a:ext cx="3344238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(2014–2022) tracking prison occupancy rates in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Europe's smallest prison systems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: Cyprus, Iceland, Liechtenstein, and Malta.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Extreme volatility in small populations: with absolute prison populations under 1,000, these micro-systems exhibit dramatic occupancy fluctuations.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A single admission or release represents a significant percentage change in system capacity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Cyprus: climbs from 114% (2018) to 226% (2022)—a 99-point surge driven by minimal absolute population changes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Liechtenstein: Oscillates between 195–365% occupancy across the decade—reflecting its ultra-small prison population (typically &lt;200 inmates)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Malta &amp; Iceland: Show more moderate volatility, with Malta achieving decongestion (93% → 59%) and Iceland maintaining steady efficiency (99% → 76%)</a:t>
            </a:r>
          </a:p>
        </p:txBody>
      </p:sp>
      <p:pic>
        <p:nvPicPr>
          <p:cNvPr id="4" name="Picture 3" descr="A graph of the country's rising prices&#10;&#10;AI-generated content may be incorrect.">
            <a:extLst>
              <a:ext uri="{FF2B5EF4-FFF2-40B4-BE49-F238E27FC236}">
                <a16:creationId xmlns:a16="http://schemas.microsoft.com/office/drawing/2014/main" id="{13F388C4-529A-1B55-EE8B-17B2E6114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" y="1122275"/>
            <a:ext cx="5797898" cy="289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596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47E5BBA1-F312-5D3E-C022-F6008C22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210CA6F0-EF64-FDF2-0B8A-0C6105FD88E8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27804495-D3B9-3A4F-6E8C-6828C65B23DB}"/>
              </a:ext>
            </a:extLst>
          </p:cNvPr>
          <p:cNvSpPr txBox="1"/>
          <p:nvPr/>
        </p:nvSpPr>
        <p:spPr>
          <a:xfrm>
            <a:off x="374922" y="111012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Prison capacity divides Europe: North vs South divergence in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76E8AA-DFB7-2CF2-A6CB-EAB8C936B9E0}"/>
              </a:ext>
            </a:extLst>
          </p:cNvPr>
          <p:cNvSpPr txBox="1"/>
          <p:nvPr/>
        </p:nvSpPr>
        <p:spPr>
          <a:xfrm>
            <a:off x="5797899" y="1009259"/>
            <a:ext cx="334423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Bar chart comparison (2022) analyzing regional prison capacity patterns across 35 European countries, segmented into Northern Europe (18), Southern Europe (13) and smaller systems (4).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Northern Europe leads in capacity management: mean occupancy of 90.40% indicates systematic efficiency, with controlled variance (min 62.20%, max 119%)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Southern Europe approaches threshold: mean occupancy of 96.40% remains below 100% at aggregate level, yet proximity to capacity threshold signals structural strain, with ceiling at 117.70%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Micro-countries exhibit extreme volatility and are therefore analyzed separately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Regional disparity is structural: the 6-point gap between North (90.39%) and South (96.35%)</a:t>
            </a:r>
          </a:p>
        </p:txBody>
      </p:sp>
      <p:pic>
        <p:nvPicPr>
          <p:cNvPr id="5" name="Picture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F5303FAA-BC84-DBED-7A80-5E8FF64CC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3881"/>
            <a:ext cx="5797898" cy="3188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040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>
          <a:extLst>
            <a:ext uri="{FF2B5EF4-FFF2-40B4-BE49-F238E27FC236}">
              <a16:creationId xmlns:a16="http://schemas.microsoft.com/office/drawing/2014/main" id="{F669D2EF-7B36-BD65-BF47-CBF850A2B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>
            <a:extLst>
              <a:ext uri="{FF2B5EF4-FFF2-40B4-BE49-F238E27FC236}">
                <a16:creationId xmlns:a16="http://schemas.microsoft.com/office/drawing/2014/main" id="{2AFF59E7-00A9-0D82-4499-09DB8223111B}"/>
              </a:ext>
            </a:extLst>
          </p:cNvPr>
          <p:cNvSpPr txBox="1"/>
          <p:nvPr/>
        </p:nvSpPr>
        <p:spPr>
          <a:xfrm>
            <a:off x="567000" y="269169"/>
            <a:ext cx="8010000" cy="298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Prison Overcrowding: Key Findings</a:t>
            </a:r>
            <a:endParaRPr lang="en-US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2" name="Google Shape;164;p31">
            <a:extLst>
              <a:ext uri="{FF2B5EF4-FFF2-40B4-BE49-F238E27FC236}">
                <a16:creationId xmlns:a16="http://schemas.microsoft.com/office/drawing/2014/main" id="{2B4D5C9D-EA9D-FC42-A380-AB99FC4B5B88}"/>
              </a:ext>
            </a:extLst>
          </p:cNvPr>
          <p:cNvSpPr txBox="1"/>
          <p:nvPr/>
        </p:nvSpPr>
        <p:spPr>
          <a:xfrm>
            <a:off x="895500" y="894043"/>
            <a:ext cx="7353000" cy="4119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Structural overcrowding persists: 11+ European countries exceed 100% occupancy consistently across the 2014–2022 decade, indicating systemic rather than cyclical patterns</a:t>
            </a:r>
          </a:p>
          <a:p>
            <a:pPr marL="17145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North-South capacity buffer disparity: Northern systems operate with ~10% capacity margin above current occupancy; Southern systems operate with ~4% margin—creating differential structural resilience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Hungary's downward trajectory: prison occupancy declined from 142.16% (2014) to 103.51% (2022) a 38.65-point reduction demonstrates long-term trend reversal is empirically possible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Croatia's inverse pattern: prison occupancy rose from 93.56% (2014) to 104.18% (2022), indicating divergent regional trajectories despite similar geographic proximity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Micro-systems show extreme volatility: Smaller jurisdictions (Cyprus, Iceland, Liechtenstein, Malta) exhibit 50–205 percentage-point swings across the decade, reflecting the amplified impact of population-scale variations</a:t>
            </a:r>
          </a:p>
        </p:txBody>
      </p:sp>
    </p:spTree>
    <p:extLst>
      <p:ext uri="{BB962C8B-B14F-4D97-AF65-F5344CB8AC3E}">
        <p14:creationId xmlns:p14="http://schemas.microsoft.com/office/powerpoint/2010/main" val="4183825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540000" y="860724"/>
            <a:ext cx="3288900" cy="3443989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1600"/>
              </a:spcAft>
              <a:buNone/>
            </a:pPr>
            <a:r>
              <a:rPr lang="en-US" b="1" dirty="0">
                <a:latin typeface="Titillium Web"/>
                <a:ea typeface="Titillium Web"/>
                <a:cs typeface="Titillium Web"/>
                <a:sym typeface="Titillium Web"/>
              </a:rPr>
              <a:t>“Prison overcrowding” 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333333"/>
                </a:solidFill>
                <a:sym typeface="Titillium Web"/>
              </a:rPr>
              <a:t>by Giorgio Evola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333333"/>
                </a:solidFill>
                <a:sym typeface="Titillium Web"/>
              </a:rPr>
              <a:t>Developed using data from the Eurostat database, with charts and analyses produced in Python.</a:t>
            </a:r>
          </a:p>
          <a:p>
            <a:pPr marL="0" lvl="0" indent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333333"/>
                </a:solidFill>
              </a:rPr>
              <a:t>Dataset: </a:t>
            </a:r>
            <a:r>
              <a:rPr lang="en-US" sz="1400" dirty="0">
                <a:solidFill>
                  <a:srgbClr val="333333"/>
                </a:solidFill>
              </a:rPr>
              <a:t>Eurostat Prison capacity and number of persons held (last update 23/04/2025 11:00).</a:t>
            </a:r>
          </a:p>
        </p:txBody>
      </p:sp>
      <p:sp>
        <p:nvSpPr>
          <p:cNvPr id="192" name="Google Shape;192;p36"/>
          <p:cNvSpPr txBox="1"/>
          <p:nvPr/>
        </p:nvSpPr>
        <p:spPr>
          <a:xfrm>
            <a:off x="4770000" y="860725"/>
            <a:ext cx="37800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Slides</a:t>
            </a:r>
            <a:r>
              <a:rPr lang="it" sz="1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are shared with the following license:</a:t>
            </a: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b="1" dirty="0">
                <a:solidFill>
                  <a:schemeClr val="dk1"/>
                </a:solidFill>
                <a:latin typeface="Lekton"/>
                <a:ea typeface="Lekton"/>
                <a:cs typeface="Lekton"/>
                <a:sym typeface="Lekton"/>
              </a:rPr>
              <a:t>Prison overcrowding © 2025 by Giorgio Evola is licensed under CC BY-SA 4.0. To view a copy of this license, visit https://creativecommons.org/licenses/by-sa/4.0/</a:t>
            </a:r>
            <a:endParaRPr b="1" dirty="0">
              <a:solidFill>
                <a:schemeClr val="dk1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1550</Words>
  <Application>Microsoft Office PowerPoint</Application>
  <PresentationFormat>Presentazione su schermo (16:9)</PresentationFormat>
  <Paragraphs>134</Paragraphs>
  <Slides>12</Slides>
  <Notes>12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6" baseType="lpstr">
      <vt:lpstr>Arial</vt:lpstr>
      <vt:lpstr>Titillium Web</vt:lpstr>
      <vt:lpstr>Lekton</vt:lpstr>
      <vt:lpstr>Simple Light</vt:lpstr>
      <vt:lpstr>Data Visualization Pitch Student  Individual Assignment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 Pitch Student  Individual Assignment</dc:title>
  <dc:creator>Giorgio Francesco Evola</dc:creator>
  <cp:lastModifiedBy>Giorgio Francesco Evola</cp:lastModifiedBy>
  <cp:revision>29</cp:revision>
  <dcterms:modified xsi:type="dcterms:W3CDTF">2026-01-04T17:43:41Z</dcterms:modified>
</cp:coreProperties>
</file>