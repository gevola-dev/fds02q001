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5"/>
  </p:notesMasterIdLst>
  <p:sldIdLst>
    <p:sldId id="258" r:id="rId2"/>
    <p:sldId id="263" r:id="rId3"/>
    <p:sldId id="264" r:id="rId4"/>
    <p:sldId id="265" r:id="rId5"/>
    <p:sldId id="266" r:id="rId6"/>
    <p:sldId id="276" r:id="rId7"/>
    <p:sldId id="268" r:id="rId8"/>
    <p:sldId id="279" r:id="rId9"/>
    <p:sldId id="280" r:id="rId10"/>
    <p:sldId id="281" r:id="rId11"/>
    <p:sldId id="269" r:id="rId12"/>
    <p:sldId id="277" r:id="rId13"/>
    <p:sldId id="271" r:id="rId14"/>
  </p:sldIdLst>
  <p:sldSz cx="9144000" cy="5143500" type="screen16x9"/>
  <p:notesSz cx="6858000" cy="9144000"/>
  <p:embeddedFontLst>
    <p:embeddedFont>
      <p:font typeface="Lekton" panose="020B0604020202020204" charset="0"/>
      <p:regular r:id="rId16"/>
      <p:bold r:id="rId17"/>
      <p:italic r:id="rId18"/>
    </p:embeddedFont>
    <p:embeddedFont>
      <p:font typeface="Titillium Web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86">
          <p15:clr>
            <a:srgbClr val="A4A3A4"/>
          </p15:clr>
        </p15:guide>
        <p15:guide id="2" pos="2098">
          <p15:clr>
            <a:srgbClr val="A4A3A4"/>
          </p15:clr>
        </p15:guide>
        <p15:guide id="3" pos="2324">
          <p15:clr>
            <a:srgbClr val="A4A3A4"/>
          </p15:clr>
        </p15:guide>
        <p15:guide id="4" pos="340">
          <p15:clr>
            <a:srgbClr val="A4A3A4"/>
          </p15:clr>
        </p15:guide>
        <p15:guide id="5" pos="2977">
          <p15:clr>
            <a:srgbClr val="A4A3A4"/>
          </p15:clr>
        </p15:guide>
        <p15:guide id="6" orient="horz" pos="737">
          <p15:clr>
            <a:srgbClr val="A4A3A4"/>
          </p15:clr>
        </p15:guide>
        <p15:guide id="7" orient="horz" pos="3005">
          <p15:clr>
            <a:srgbClr val="A4A3A4"/>
          </p15:clr>
        </p15:guide>
        <p15:guide id="8" orient="horz" pos="1757">
          <p15:clr>
            <a:srgbClr val="A4A3A4"/>
          </p15:clr>
        </p15:guide>
        <p15:guide id="9" orient="horz" pos="542">
          <p15:clr>
            <a:srgbClr val="A4A3A4"/>
          </p15:clr>
        </p15:guide>
        <p15:guide id="10" orient="horz" pos="10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pos="5386"/>
        <p:guide pos="2098"/>
        <p:guide pos="2324"/>
        <p:guide pos="340"/>
        <p:guide pos="2977"/>
        <p:guide orient="horz" pos="737"/>
        <p:guide orient="horz" pos="3005"/>
        <p:guide orient="horz" pos="1757"/>
        <p:guide orient="horz" pos="542"/>
        <p:guide orient="horz" pos="10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71192460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71192460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f6af15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f6af15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50C173E3-741F-FFDE-C38F-644F00DCA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>
            <a:extLst>
              <a:ext uri="{FF2B5EF4-FFF2-40B4-BE49-F238E27FC236}">
                <a16:creationId xmlns:a16="http://schemas.microsoft.com/office/drawing/2014/main" id="{1FAB6AB0-7B87-183E-A254-D5899F172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>
            <a:extLst>
              <a:ext uri="{FF2B5EF4-FFF2-40B4-BE49-F238E27FC236}">
                <a16:creationId xmlns:a16="http://schemas.microsoft.com/office/drawing/2014/main" id="{9C472FFA-84C3-37A6-A376-238EBC302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806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8aeda40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8aeda40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531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4407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7528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C0D06C7-5F7E-A958-473F-9F574A25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>
            <a:extLst>
              <a:ext uri="{FF2B5EF4-FFF2-40B4-BE49-F238E27FC236}">
                <a16:creationId xmlns:a16="http://schemas.microsoft.com/office/drawing/2014/main" id="{CC72C94B-4A94-2E85-90DA-9CCDAA4AC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>
            <a:extLst>
              <a:ext uri="{FF2B5EF4-FFF2-40B4-BE49-F238E27FC236}">
                <a16:creationId xmlns:a16="http://schemas.microsoft.com/office/drawing/2014/main" id="{E8868129-8208-80B2-23ED-C4FD61342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891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71748b7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71748b7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itolo 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Font typeface="Lekton"/>
              <a:buNone/>
              <a:defRPr sz="4200" b="1">
                <a:latin typeface="Lekton"/>
                <a:ea typeface="Lekton"/>
                <a:cs typeface="Lekton"/>
                <a:sym typeface="Lek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67500" y="3427050"/>
            <a:ext cx="7557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726825" y="257900"/>
            <a:ext cx="6957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1578700"/>
            <a:ext cx="8520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Lekton"/>
              <a:buNone/>
              <a:defRPr sz="3000" b="1"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250825" y="3032375"/>
            <a:ext cx="42984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33333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della sezione 1">
  <p:cSld name="SECTION_HEADER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61300" y="1594350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1250" y="3253963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439150" y="100"/>
            <a:ext cx="47049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837675" y="1656850"/>
            <a:ext cx="3288900" cy="29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">
  <p:cSld name="SECTION_TITLE_AND_DESCRIPTION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D66B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">
  <p:cSld name="SECTION_TITLE_AND_DESCRIPTION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1175" y="-96750"/>
            <a:ext cx="9386000" cy="52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">
  <p:cSld name="SECTION_TITLE_AND_DESCRIPTION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0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Google Shape;45;p10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2">
  <p:cSld name="SECTION_TITLE_AND_DESCRIPTION_1_1_1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52250"/>
            <a:ext cx="9338651" cy="5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11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11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1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2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12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C67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">
  <p:cSld name="SECTION_TITLE_AND_DESCRIPTION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0075"/>
            <a:ext cx="9354474" cy="5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3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2">
  <p:cSld name="CUSTOM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4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8F44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">
  <p:cSld name="SECTION_TITLE_AND_DESCRIPTION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75" y="-87875"/>
            <a:ext cx="9370249" cy="52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4" name="Google Shape;74;p15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3">
  <p:cSld name="CUSTOM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6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22E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 1">
  <p:cSld name="SECTION_TITLE_AND_DESCRIPTION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8950"/>
            <a:ext cx="9417551" cy="53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65814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None/>
              <a:defRPr b="1">
                <a:latin typeface="Lekton"/>
                <a:ea typeface="Lekton"/>
                <a:cs typeface="Lekton"/>
                <a:sym typeface="Lekton"/>
              </a:defRPr>
            </a:lvl1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66B55"/>
              </a:buClr>
              <a:buSzPts val="20000"/>
              <a:buFont typeface="Lekton"/>
              <a:buNone/>
              <a:defRPr sz="20000" b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2430575" y="2993300"/>
            <a:ext cx="42048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2430575" y="3477850"/>
            <a:ext cx="42048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eurostat/databrowser/view/crim_pris_cap/default/table?lang=e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C6C154D-BA28-DED8-2B11-1ED921D0D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01" y="87925"/>
            <a:ext cx="762000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Google Shape;115;p23"/>
          <p:cNvSpPr txBox="1"/>
          <p:nvPr/>
        </p:nvSpPr>
        <p:spPr>
          <a:xfrm>
            <a:off x="1277000" y="700450"/>
            <a:ext cx="2128500" cy="1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ctrTitle"/>
          </p:nvPr>
        </p:nvSpPr>
        <p:spPr>
          <a:xfrm>
            <a:off x="0" y="4380026"/>
            <a:ext cx="4584900" cy="8423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dirty="0"/>
              <a:t>Data Visualization Pitch</a:t>
            </a:r>
            <a:endParaRPr sz="1800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 Individual Assignment</a:t>
            </a:r>
            <a:endParaRPr sz="1800" dirty="0"/>
          </a:p>
        </p:txBody>
      </p:sp>
      <p:sp>
        <p:nvSpPr>
          <p:cNvPr id="117" name="Google Shape;117;p23"/>
          <p:cNvSpPr txBox="1"/>
          <p:nvPr/>
        </p:nvSpPr>
        <p:spPr>
          <a:xfrm>
            <a:off x="4559225" y="4275600"/>
            <a:ext cx="4584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latin typeface="Titillium Web"/>
                <a:ea typeface="Titillium Web"/>
                <a:cs typeface="Titillium Web"/>
                <a:sym typeface="Titillium Web"/>
              </a:rPr>
              <a:t>Student name: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Giorgio Evola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ID: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932861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e-mail address: </a:t>
            </a:r>
            <a:r>
              <a:rPr lang="en-US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g.evola2@campus.unimib.it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18" name="Google Shape;118;p23"/>
          <p:cNvCxnSpPr/>
          <p:nvPr/>
        </p:nvCxnSpPr>
        <p:spPr>
          <a:xfrm>
            <a:off x="4572000" y="0"/>
            <a:ext cx="0" cy="51345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23"/>
          <p:cNvSpPr txBox="1"/>
          <p:nvPr/>
        </p:nvSpPr>
        <p:spPr>
          <a:xfrm>
            <a:off x="2265051" y="547251"/>
            <a:ext cx="4584900" cy="24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chemeClr val="bg1"/>
                </a:solidFill>
                <a:latin typeface="Lekton"/>
                <a:ea typeface="Lekton"/>
                <a:cs typeface="Lekton"/>
                <a:sym typeface="Lekton"/>
              </a:rPr>
              <a:t> Prison overcrowding</a:t>
            </a:r>
            <a:endParaRPr sz="4200" b="1" dirty="0">
              <a:solidFill>
                <a:schemeClr val="bg1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540000" y="384724"/>
            <a:ext cx="8010000" cy="4335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Research questions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Which are the European countries with the highest prison overcrowding in the 2022, and how has their occupancy rate evolved over time?</a:t>
            </a: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​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How many European countries exceed 100% prison occupancy rate in the 2022?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Which countries have been most successful in keeping occupancy below capacity in the 2022?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What are the regional differences (North vs South Europe) in prison overcrowding?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Lekton"/>
                <a:ea typeface="Lekton"/>
                <a:cs typeface="Lekton"/>
                <a:sym typeface="Lekton"/>
              </a:rPr>
              <a:t>Are their trends improving, stable, or worsening over the 2014–2022 period, compared to the overall European average?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Lekton"/>
                <a:ea typeface="Lekton"/>
                <a:cs typeface="Lekton"/>
                <a:sym typeface="Lekton"/>
              </a:rPr>
              <a:t>How has Italy's prison occupancy evolved from 2014–2022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Dataset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Eurostat Prison capacity and number of persons held (</a:t>
            </a:r>
            <a:r>
              <a:rPr lang="en-US" i="1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  <a:hlinkClick r:id="rId3"/>
              </a:rPr>
              <a:t>eurostat</a:t>
            </a: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Temporal coverage: 2014–2022 (9 years)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Geographic scope: 37 European countries (EU27 + Balkans + Nordic countries)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Total records: 1,454 observations</a:t>
            </a:r>
          </a:p>
          <a:p>
            <a:pPr lvl="0">
              <a:spcBef>
                <a:spcPts val="1000"/>
              </a:spcBef>
            </a:pPr>
            <a:endParaRPr lang="en-US" b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spcBef>
                <a:spcPts val="1000"/>
              </a:spcBef>
            </a:pPr>
            <a:r>
              <a:rPr lang="en-US" b="1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Known issues</a:t>
            </a:r>
          </a:p>
          <a:p>
            <a:pPr lvl="0">
              <a:spcBef>
                <a:spcPts val="1000"/>
              </a:spcBef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Some small countries (Liechtenstein, Cyprus, Malta) have volatile year-to-year variations due to small prison population</a:t>
            </a:r>
          </a:p>
          <a:p>
            <a:pPr lvl="0">
              <a:spcBef>
                <a:spcPts val="1000"/>
              </a:spcBef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Missing data for a few countries in specific years (e.g. North Macedonia: only 2016–2023)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C2E6005-0B0D-4879-B1D2-FB7B3587BC9A}"/>
              </a:ext>
            </a:extLst>
          </p:cNvPr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9" name="Google Shape;159;p30"/>
          <p:cNvSpPr txBox="1"/>
          <p:nvPr/>
        </p:nvSpPr>
        <p:spPr>
          <a:xfrm>
            <a:off x="0" y="269313"/>
            <a:ext cx="4572000" cy="27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96A8028-6E19-4E1C-AF14-AC2D7C7997FE}"/>
              </a:ext>
            </a:extLst>
          </p:cNvPr>
          <p:cNvSpPr txBox="1"/>
          <p:nvPr/>
        </p:nvSpPr>
        <p:spPr>
          <a:xfrm>
            <a:off x="0" y="966917"/>
            <a:ext cx="457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rgbClr val="333333"/>
                </a:solidFill>
                <a:latin typeface="Lekton"/>
              </a:rPr>
              <a:t>Software &amp; Libraries</a:t>
            </a:r>
          </a:p>
          <a:p>
            <a:endParaRPr lang="en-US" sz="1200" i="1" dirty="0">
              <a:solidFill>
                <a:srgbClr val="333333"/>
              </a:solidFill>
              <a:latin typeface="Lekto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Python 3.12 (</a:t>
            </a:r>
            <a:r>
              <a:rPr lang="en-US" sz="1200" i="1" dirty="0" err="1">
                <a:solidFill>
                  <a:srgbClr val="333333"/>
                </a:solidFill>
                <a:latin typeface="Lekton"/>
              </a:rPr>
              <a:t>Jupyter</a:t>
            </a:r>
            <a:r>
              <a:rPr lang="en-US" sz="1200" i="1" dirty="0">
                <a:solidFill>
                  <a:srgbClr val="333333"/>
                </a:solidFill>
                <a:latin typeface="Lekton"/>
              </a:rPr>
              <a:t> Notebook environment)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pandas (data manipulation, pivot tables, filtering)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 err="1">
                <a:solidFill>
                  <a:srgbClr val="333333"/>
                </a:solidFill>
                <a:latin typeface="Lekton"/>
              </a:rPr>
              <a:t>plotly</a:t>
            </a:r>
            <a:r>
              <a:rPr lang="en-US" sz="1200" i="1" dirty="0">
                <a:solidFill>
                  <a:srgbClr val="333333"/>
                </a:solidFill>
                <a:latin typeface="Lekton"/>
              </a:rPr>
              <a:t> (interactive visualization)</a:t>
            </a:r>
          </a:p>
          <a:p>
            <a:endParaRPr lang="en-US" sz="1200" i="1" dirty="0">
              <a:solidFill>
                <a:srgbClr val="333333"/>
              </a:solidFill>
              <a:latin typeface="Lekton"/>
            </a:endParaRPr>
          </a:p>
          <a:p>
            <a:r>
              <a:rPr lang="en-US" sz="1200" b="1" i="1" dirty="0">
                <a:solidFill>
                  <a:srgbClr val="333333"/>
                </a:solidFill>
                <a:latin typeface="Lekton"/>
              </a:rPr>
              <a:t>Methodology</a:t>
            </a:r>
          </a:p>
          <a:p>
            <a:endParaRPr lang="en-US" sz="1200" i="1" dirty="0">
              <a:solidFill>
                <a:srgbClr val="333333"/>
              </a:solidFill>
              <a:latin typeface="Lekto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Built a </a:t>
            </a:r>
            <a:r>
              <a:rPr lang="en-US" sz="1200" i="1" dirty="0" err="1">
                <a:solidFill>
                  <a:srgbClr val="333333"/>
                </a:solidFill>
                <a:latin typeface="Lekton"/>
              </a:rPr>
              <a:t>Jupyter</a:t>
            </a:r>
            <a:r>
              <a:rPr lang="en-US" sz="1200" i="1" dirty="0">
                <a:solidFill>
                  <a:srgbClr val="333333"/>
                </a:solidFill>
                <a:latin typeface="Lekton"/>
              </a:rPr>
              <a:t> notebook workflow to read, standardize, and normalize prison data from CSV files using pandas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Created reusable Python functions in a dedicated module (prisons_data_analysis.py) for data transformation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Each function outputs an intermediate CSV, serving as input for visualization and further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Generated charts directly from intermediate CSVs using </a:t>
            </a:r>
            <a:r>
              <a:rPr lang="en-US" sz="1200" i="1" dirty="0" err="1">
                <a:solidFill>
                  <a:srgbClr val="333333"/>
                </a:solidFill>
                <a:latin typeface="Lekton"/>
              </a:rPr>
              <a:t>Plotly</a:t>
            </a:r>
            <a:endParaRPr lang="en-US" sz="1200" i="1" dirty="0">
              <a:solidFill>
                <a:srgbClr val="333333"/>
              </a:solidFill>
              <a:latin typeface="Lekto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Methodology fully replicable with updated Eurostat data using pandas/Python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Created an interactive European prison overcrowding map (2022) using Data Wrapper Choropleth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3541C0F-8638-4738-9EF6-FAE81157F366}"/>
              </a:ext>
            </a:extLst>
          </p:cNvPr>
          <p:cNvSpPr txBox="1"/>
          <p:nvPr/>
        </p:nvSpPr>
        <p:spPr>
          <a:xfrm>
            <a:off x="4572000" y="966917"/>
            <a:ext cx="4572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rgbClr val="333333"/>
                </a:solidFill>
                <a:latin typeface="Lekton"/>
              </a:rPr>
              <a:t>Processing Steps</a:t>
            </a:r>
          </a:p>
          <a:p>
            <a:endParaRPr lang="en-US" sz="1200" i="1" dirty="0">
              <a:solidFill>
                <a:srgbClr val="333333"/>
              </a:solidFill>
              <a:latin typeface="Lekton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Read CSV and standardized column names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Converted TIME_PERIOD to integer years and pivoted data by country/year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Calculated occupancy rate: (prisoners/capacity) × 100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Normalized all rates as percentages for consistency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Identified countries exceeding 100% prison occupancy in 2022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Extracted the top 10 most overcrowded countries (2022)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Segmented countries into North/South regions and compared statistics (mean, min, max, count)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Generated time series for 4 countries with occupancy &lt; 1,000 inmates (Iceland, Malta, Cyprus, Liechtenstein)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33333"/>
                </a:solidFill>
                <a:latin typeface="Lekton"/>
              </a:rPr>
              <a:t>Used LLM Copilot (Visual Studio Code) for code review and validation</a:t>
            </a:r>
            <a:endParaRPr lang="it-IT" sz="1200" i="1" dirty="0">
              <a:solidFill>
                <a:srgbClr val="333333"/>
              </a:solidFill>
              <a:latin typeface="Lekton"/>
            </a:endParaRPr>
          </a:p>
          <a:p>
            <a:endParaRPr lang="it-IT" sz="1200" i="1" dirty="0">
              <a:solidFill>
                <a:srgbClr val="333333"/>
              </a:solidFill>
              <a:latin typeface="Lekton"/>
            </a:endParaRPr>
          </a:p>
          <a:p>
            <a:endParaRPr lang="it-IT" sz="1200" i="1" dirty="0">
              <a:solidFill>
                <a:srgbClr val="333333"/>
              </a:solidFill>
              <a:latin typeface="Lekton"/>
            </a:endParaRPr>
          </a:p>
          <a:p>
            <a:endParaRPr lang="it-IT" sz="1200" i="1" dirty="0">
              <a:solidFill>
                <a:srgbClr val="333333"/>
              </a:solidFill>
              <a:latin typeface="Lekt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/>
        </p:nvSpPr>
        <p:spPr>
          <a:xfrm>
            <a:off x="381600" y="758100"/>
            <a:ext cx="39744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1: 13/37 countries overcrowded (35% of European prison systems)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13 countries exceed 100% capacity in 2023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Occupancy rate range: 68% (Ireland) to 218% (Liechtenstein)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 average: 95.7% (below critical threshold, but 7 EU27 countries above 100%)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2: Italy is the 3rd worst case in Europe (119.1% occupancy 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Liechtenstein: 218.2% (extreme outlier, very small population)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France: 122.9% (largest EU nation with overcrowding)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Italy: 119.1% (2nd EU nation, after France)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Belgium: 113.2%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Italy's trajectory: +29 percentage points since 2014 (90% → 119%)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A36552-FE23-CA3A-55AA-3BA52C8C5D12}"/>
              </a:ext>
            </a:extLst>
          </p:cNvPr>
          <p:cNvSpPr txBox="1"/>
          <p:nvPr/>
        </p:nvSpPr>
        <p:spPr>
          <a:xfrm>
            <a:off x="4492800" y="842400"/>
            <a:ext cx="4572000" cy="385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3: Liechtenstein is an extreme outlier (218% occupancy)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48 prisoners in capacity for 22 places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Likely due to immigration/refugee detention policies, not criminal population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Recommendation: Analyze separately from traditional criminal justice systems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4: Strong geographic clustering (North-South divide)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Northern Europe (Norway, Finland, Denmark): 65–100% occupancy (well-managed)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Southern/Central Europe (Italy, France, Belgium, Greece): 110–130% (chronic overcrowding)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Eastern Europe (mixed): Hungary 110%, Romania 110%, Croatia 110%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5: Italy's worsening trend (2014–2023)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2014: 90.1% → 2019: 104% → 2023: 119.1%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Consistent upward trend despite Italian prison reform initiatives (2014 amendments)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Suggests ineffectiveness of capacity-building policies or rising incarceration rates</a:t>
            </a:r>
          </a:p>
          <a:p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5CBA0-E066-FDB0-BF0C-C96994F9A397}"/>
              </a:ext>
            </a:extLst>
          </p:cNvPr>
          <p:cNvSpPr txBox="1"/>
          <p:nvPr/>
        </p:nvSpPr>
        <p:spPr>
          <a:xfrm>
            <a:off x="2070000" y="15189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 from the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8966492-5767-0430-9B1B-AF70C5431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>
            <a:extLst>
              <a:ext uri="{FF2B5EF4-FFF2-40B4-BE49-F238E27FC236}">
                <a16:creationId xmlns:a16="http://schemas.microsoft.com/office/drawing/2014/main" id="{F9B0EE5C-19C7-191A-4CFE-6028F1A6964A}"/>
              </a:ext>
            </a:extLst>
          </p:cNvPr>
          <p:cNvSpPr txBox="1"/>
          <p:nvPr/>
        </p:nvSpPr>
        <p:spPr>
          <a:xfrm>
            <a:off x="381600" y="758100"/>
            <a:ext cx="39744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Recommended Actions for Decision-Makers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9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Italian policy makers: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Emergency capacity expansion: Italy needs +15% more prison capacity to reach EU average (95.7%)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Reduce incarceration rates: Consider alternative sentencing, early release programs, rehabilitation focus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Regional redistribution: Use underutilized facilities in Northern Italy to balance Southern overcrowding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Timeline: Target 100% occupancy by 2025, 90% by 2027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A751E1-A327-AE65-EF18-34798B695FC6}"/>
              </a:ext>
            </a:extLst>
          </p:cNvPr>
          <p:cNvSpPr txBox="1"/>
          <p:nvPr/>
        </p:nvSpPr>
        <p:spPr>
          <a:xfrm>
            <a:off x="4471200" y="1314995"/>
            <a:ext cx="4572000" cy="25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EU level: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Peer learning: Northern European countries (Norway, Finland) should mentor Southern EU states on prison management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 funding: Allocate prison infrastructure grants to countries &gt;110% occupancy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Monitoring dashboard: Regular Eurostat updates to track progress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researchers/future analysis: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Investigate correlation between prison occupancy and crime rates (does more capacity = less overcrowding?)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Analyze Liechtenstein separately (different legal/demographic context)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Compare occupancy rate vs public spending on prisons per inmate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284D7-0BF3-5378-3883-A6536C12E834}"/>
              </a:ext>
            </a:extLst>
          </p:cNvPr>
          <p:cNvSpPr txBox="1"/>
          <p:nvPr/>
        </p:nvSpPr>
        <p:spPr>
          <a:xfrm>
            <a:off x="2070000" y="15189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 from the Data</a:t>
            </a:r>
          </a:p>
        </p:txBody>
      </p:sp>
    </p:spTree>
    <p:extLst>
      <p:ext uri="{BB962C8B-B14F-4D97-AF65-F5344CB8AC3E}">
        <p14:creationId xmlns:p14="http://schemas.microsoft.com/office/powerpoint/2010/main" val="3766155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/>
        </p:nvSpPr>
        <p:spPr>
          <a:xfrm>
            <a:off x="5356799" y="75349"/>
            <a:ext cx="3684493" cy="1020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prison overcrowding map in 2022(Data Wrapper Choropleth)</a:t>
            </a:r>
            <a:endParaRPr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32C00-CB1F-6C74-C042-647A29556A18}"/>
              </a:ext>
            </a:extLst>
          </p:cNvPr>
          <p:cNvSpPr txBox="1"/>
          <p:nvPr/>
        </p:nvSpPr>
        <p:spPr>
          <a:xfrm>
            <a:off x="5356799" y="855375"/>
            <a:ext cx="3684494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Color scheme: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Green: &lt;90% (good, below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Yellow: 90–100% (acceptable, at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Orange: 100–120% (overcrowded, critical)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Red: &gt;120% (severe overcrowding, emergency)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What the map shows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13 countries highlighted in orange/red: Exceeding 100% capacity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Top 3 worst: Liechtenstein (218%), France (123%), Italy (119%)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EU27 average: 95.7% (shown as reference)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Best performers: Norway, Iceland, Finland, Ireland (65–80%)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Key insight</a:t>
            </a: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Prison overcrowding is concentrated in Southern and Central Europe, not uniformly distributed. Northern European countries successfully maintain capacity well below 100%, suggesting policy/system differences.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B7AC9C1-FC0B-428B-B8CB-C91A6F5CFFB1}"/>
              </a:ext>
            </a:extLst>
          </p:cNvPr>
          <p:cNvSpPr/>
          <p:nvPr/>
        </p:nvSpPr>
        <p:spPr>
          <a:xfrm>
            <a:off x="3897961" y="4457700"/>
            <a:ext cx="25829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38D9982-2609-445F-A488-2B0444007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97293" cy="5143500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11975591-C782-49F1-A320-D0CE0ECDEE3B}"/>
              </a:ext>
            </a:extLst>
          </p:cNvPr>
          <p:cNvSpPr/>
          <p:nvPr/>
        </p:nvSpPr>
        <p:spPr>
          <a:xfrm>
            <a:off x="4156259" y="4457699"/>
            <a:ext cx="173694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567000" y="111350"/>
            <a:ext cx="8010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countries exceed 100% prison occupancy rate in the 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ACC2-9BD0-A397-E2B5-AA9B98489E73}"/>
              </a:ext>
            </a:extLst>
          </p:cNvPr>
          <p:cNvSpPr txBox="1"/>
          <p:nvPr/>
        </p:nvSpPr>
        <p:spPr>
          <a:xfrm>
            <a:off x="4572000" y="1171539"/>
            <a:ext cx="463042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Visual Description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(2014–2023) showing occupancy rate evolution for: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Italy, France, Belgium, Liechtenstein, Sweden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EU27 average (reference baseline)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Red dashed line at 100%: overcrowding threshold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What the chart shows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Liechtenstein: Extreme volatility (265% → 360% → 218%), unmanageable swings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Italy: Consistent upward trend (90% → 119%), worsening crisis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France: Stable overcrowding (120–125%), persistent problem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Belgium: Slight improvement (115% → 113%), but still overcrowded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Sweden: Volatile but recent improvement (112% → 107%), positive trajectory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 average: Stable around 95%, slight downward trend (good management overall)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Italy's problem is worsening, not improving (straight +29pp 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 is uncontrollable (likely administrative/immigration issues)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Northern countries do better (Sweden improving; EU avg stable)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10-year horizon: Overcrowding is NOT temporary; it's structural in Southern Europe</a:t>
            </a:r>
          </a:p>
        </p:txBody>
      </p:sp>
    </p:spTree>
    <p:extLst>
      <p:ext uri="{BB962C8B-B14F-4D97-AF65-F5344CB8AC3E}">
        <p14:creationId xmlns:p14="http://schemas.microsoft.com/office/powerpoint/2010/main" val="1368308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567000" y="111350"/>
            <a:ext cx="8010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countries have been most successful in maintained occupancy rates below capacity in the 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ACC2-9BD0-A397-E2B5-AA9B98489E73}"/>
              </a:ext>
            </a:extLst>
          </p:cNvPr>
          <p:cNvSpPr txBox="1"/>
          <p:nvPr/>
        </p:nvSpPr>
        <p:spPr>
          <a:xfrm>
            <a:off x="4572000" y="1171539"/>
            <a:ext cx="463042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Visual Description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(2014–2023) showing occupancy rate evolution for: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Italy, France, Belgium, Liechtenstein, Sweden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EU27 average (reference baseline)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Red dashed line at 100%: overcrowding threshold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What the chart shows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Liechtenstein: Extreme volatility (265% → 360% → 218%), unmanageable swings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Italy: Consistent upward trend (90% → 119%), worsening crisis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France: Stable overcrowding (120–125%), persistent problem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Belgium: Slight improvement (115% → 113%), but still overcrowded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Sweden: Volatile but recent improvement (112% → 107%), positive trajectory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 average: Stable around 95%, slight downward trend (good management overall)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Italy's problem is worsening, not improving (straight +29pp 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 is uncontrollable (likely administrative/immigration issues)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Northern countries do better (Sweden improving; EU avg stable)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10-year horizon: Overcrowding is NOT temporary; it's structural in Southern Europe</a:t>
            </a:r>
          </a:p>
        </p:txBody>
      </p:sp>
    </p:spTree>
    <p:extLst>
      <p:ext uri="{BB962C8B-B14F-4D97-AF65-F5344CB8AC3E}">
        <p14:creationId xmlns:p14="http://schemas.microsoft.com/office/powerpoint/2010/main" val="3712875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567000" y="111350"/>
            <a:ext cx="8010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What are the regional differences (North vs South Europe) in prison overcrowding?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ACC2-9BD0-A397-E2B5-AA9B98489E73}"/>
              </a:ext>
            </a:extLst>
          </p:cNvPr>
          <p:cNvSpPr txBox="1"/>
          <p:nvPr/>
        </p:nvSpPr>
        <p:spPr>
          <a:xfrm>
            <a:off x="4572000" y="1171539"/>
            <a:ext cx="463042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Visual Description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(2014–2023) showing occupancy rate evolution for: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Italy, France, Belgium, Liechtenstein, Sweden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EU27 average (reference baseline)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Red dashed line at 100%: overcrowding threshold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What the chart shows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Liechtenstein: Extreme volatility (265% → 360% → 218%), unmanageable swings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Italy: Consistent upward trend (90% → 119%), worsening crisis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France: Stable overcrowding (120–125%), persistent problem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Belgium: Slight improvement (115% → 113%), but still overcrowded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Sweden: Volatile but recent improvement (112% → 107%), positive trajectory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 average: Stable around 95%, slight downward trend (good management overall)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Italy's problem is worsening, not improving (straight +29pp 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 is uncontrollable (likely administrative/immigration issues)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Northern countries do better (Sweden improving; EU avg stable)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10-year horizon: Overcrowding is NOT temporary; it's structural in Southern Europe</a:t>
            </a:r>
          </a:p>
        </p:txBody>
      </p:sp>
    </p:spTree>
    <p:extLst>
      <p:ext uri="{BB962C8B-B14F-4D97-AF65-F5344CB8AC3E}">
        <p14:creationId xmlns:p14="http://schemas.microsoft.com/office/powerpoint/2010/main" val="58715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567000" y="111350"/>
            <a:ext cx="8010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Prison Occupancy Trends 2014-2022: European countries with prison occupancy &lt; 1000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ACC2-9BD0-A397-E2B5-AA9B98489E73}"/>
              </a:ext>
            </a:extLst>
          </p:cNvPr>
          <p:cNvSpPr txBox="1"/>
          <p:nvPr/>
        </p:nvSpPr>
        <p:spPr>
          <a:xfrm>
            <a:off x="0" y="842086"/>
            <a:ext cx="405660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Visual Description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(2014–2023) showing occupancy rate evolution for: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Italy, France, Belgium, Liechtenstein, Sweden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EU27 average (reference baseline)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Red dashed line at 100%: overcrowding threshold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What the chart shows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Liechtenstein: Extreme volatility (265% → 360% → 218%), unmanageable swings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Italy: Consistent upward trend (90% → 119%), worsening crisis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France: Stable overcrowding (120–125%), persistent problem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Belgium: Slight improvement (115% → 113%), but still overcrowded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Sweden: Volatile but recent improvement (112% → 107%), positive trajectory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 average: Stable around 95%, slight downward trend (good management overall)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Italy's problem is worsening, not improving (straight +29pp 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 is uncontrollable (likely administrative/immigration issues)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Northern countries do better (Sweden improving; EU avg stable)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10-year horizon: Overcrowding is NOT temporary; it's structural in Southern Europe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FED2697-0134-48B5-83BD-A00B804F4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604" y="1337494"/>
            <a:ext cx="5040331" cy="25201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F669D2EF-7B36-BD65-BF47-CBF850A2B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>
            <a:extLst>
              <a:ext uri="{FF2B5EF4-FFF2-40B4-BE49-F238E27FC236}">
                <a16:creationId xmlns:a16="http://schemas.microsoft.com/office/drawing/2014/main" id="{2AFF59E7-00A9-0D82-4499-09DB8223111B}"/>
              </a:ext>
            </a:extLst>
          </p:cNvPr>
          <p:cNvSpPr txBox="1"/>
          <p:nvPr/>
        </p:nvSpPr>
        <p:spPr>
          <a:xfrm>
            <a:off x="540000" y="384724"/>
            <a:ext cx="8010000" cy="46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Executive Summary</a:t>
            </a: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Europe's prison systems face a regional crisis: 13/37 countries exceed capacity (100%+), concentrated in Southern and Central Europe. Italy is the worst-performing major EU nation (119.1%), with a worsening trend since 2014 (+29pp). Northern European countries prove that well-managed systems can maintain occupancy &lt;80%.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Critical Findings (Top 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35% of European countries face prison overcrowding – this is a systemic problem, not anomaly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Italy's situation is worsening despite reform efforts – suggests policy misalignment or rising crime/incarceration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Northern Europe demonstrates solutions are possible – peer learning and infrastructure investment can work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Actionable Recommendations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Immediate (2025):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Italy: Launch emergency capacity expansion program (target: -10pp occupancy)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EU: Establish crisis fund for countries &gt;110% occupancy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Medium-term (2025–2027):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Standardize best practices from Nordic countries across EU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Reduce incarceration through alternative sentencing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Regular monitoring dashboard (quarterly Eurostat updates)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Long-term (2027+):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Link EU funding to occupancy rate targets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Comparative policy analysis: Why do Norway (65%) and Italy (119%) differ 54pp despite similar economies?</a:t>
            </a:r>
            <a:endParaRPr sz="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4183825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>
            <a:spLocks noGrp="1"/>
          </p:cNvSpPr>
          <p:nvPr>
            <p:ph type="body" idx="1"/>
          </p:nvPr>
        </p:nvSpPr>
        <p:spPr>
          <a:xfrm>
            <a:off x="540000" y="860724"/>
            <a:ext cx="3288900" cy="344398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b="1" dirty="0">
                <a:latin typeface="Titillium Web"/>
                <a:ea typeface="Titillium Web"/>
                <a:cs typeface="Titillium Web"/>
                <a:sym typeface="Titillium Web"/>
              </a:rPr>
              <a:t>“Prison overcrowding” 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333333"/>
                </a:solidFill>
                <a:sym typeface="Titillium Web"/>
              </a:rPr>
              <a:t>by Giorgio Evola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333333"/>
                </a:solidFill>
                <a:sym typeface="Titillium Web"/>
              </a:rPr>
              <a:t>Developed using data from the Eurostat database, with charts and analyses produced in Python.</a:t>
            </a:r>
          </a:p>
          <a:p>
            <a:pPr marL="0" lvl="0" indent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333333"/>
                </a:solidFill>
              </a:rPr>
              <a:t>Dataset: </a:t>
            </a:r>
            <a:r>
              <a:rPr lang="en-US" sz="1200" dirty="0">
                <a:solidFill>
                  <a:srgbClr val="333333"/>
                </a:solidFill>
              </a:rPr>
              <a:t>Prison capacity and number of persons held.</a:t>
            </a:r>
          </a:p>
        </p:txBody>
      </p:sp>
      <p:sp>
        <p:nvSpPr>
          <p:cNvPr id="192" name="Google Shape;192;p36"/>
          <p:cNvSpPr txBox="1"/>
          <p:nvPr/>
        </p:nvSpPr>
        <p:spPr>
          <a:xfrm>
            <a:off x="4770000" y="860725"/>
            <a:ext cx="3780000" cy="20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Slides</a:t>
            </a:r>
            <a:r>
              <a:rPr lang="it" sz="1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are shared with the following license:</a:t>
            </a: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Lekton"/>
                <a:ea typeface="Lekton"/>
                <a:cs typeface="Lekton"/>
                <a:sym typeface="Lekton"/>
              </a:rPr>
              <a:t>Prison overcrowding © 2025 by Giorgio Evola is licensed under CC BY-SA 4.0. To view a copy of this license, visit https://creativecommons.org/licenses/by-sa/4.0/</a:t>
            </a:r>
            <a:endParaRPr sz="1100" b="1" dirty="0">
              <a:solidFill>
                <a:schemeClr val="dk1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2021</Words>
  <Application>Microsoft Office PowerPoint</Application>
  <PresentationFormat>Presentazione su schermo (16:9)</PresentationFormat>
  <Paragraphs>204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Titillium Web</vt:lpstr>
      <vt:lpstr>Arial</vt:lpstr>
      <vt:lpstr>Lekton</vt:lpstr>
      <vt:lpstr>Simple Light</vt:lpstr>
      <vt:lpstr>Data Visualization Pitch Student  Individual Assignment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Pitch Student  Individual Assignment</dc:title>
  <dc:creator>Giorgio Francesco Evola</dc:creator>
  <cp:lastModifiedBy>Giorgio Francesco Evola</cp:lastModifiedBy>
  <cp:revision>23</cp:revision>
  <dcterms:modified xsi:type="dcterms:W3CDTF">2026-01-04T10:16:24Z</dcterms:modified>
</cp:coreProperties>
</file>