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0"/>
  </p:notesMasterIdLst>
  <p:sldIdLst>
    <p:sldId id="258" r:id="rId2"/>
    <p:sldId id="288" r:id="rId3"/>
    <p:sldId id="263" r:id="rId4"/>
    <p:sldId id="264" r:id="rId5"/>
    <p:sldId id="286" r:id="rId6"/>
    <p:sldId id="285" r:id="rId7"/>
    <p:sldId id="289" r:id="rId8"/>
    <p:sldId id="287" r:id="rId9"/>
  </p:sldIdLst>
  <p:sldSz cx="9144000" cy="5143500" type="screen16x9"/>
  <p:notesSz cx="6858000" cy="9144000"/>
  <p:embeddedFontLst>
    <p:embeddedFont>
      <p:font typeface="Lekton" panose="020B0604020202020204" charset="0"/>
      <p:regular r:id="rId11"/>
      <p:bold r:id="rId12"/>
      <p:italic r:id="rId13"/>
    </p:embeddedFont>
    <p:embeddedFont>
      <p:font typeface="Titillium Web" panose="000005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86">
          <p15:clr>
            <a:srgbClr val="A4A3A4"/>
          </p15:clr>
        </p15:guide>
        <p15:guide id="2" pos="2098">
          <p15:clr>
            <a:srgbClr val="A4A3A4"/>
          </p15:clr>
        </p15:guide>
        <p15:guide id="3" pos="2324">
          <p15:clr>
            <a:srgbClr val="A4A3A4"/>
          </p15:clr>
        </p15:guide>
        <p15:guide id="4" pos="340">
          <p15:clr>
            <a:srgbClr val="A4A3A4"/>
          </p15:clr>
        </p15:guide>
        <p15:guide id="5" pos="2977">
          <p15:clr>
            <a:srgbClr val="A4A3A4"/>
          </p15:clr>
        </p15:guide>
        <p15:guide id="6" orient="horz" pos="737">
          <p15:clr>
            <a:srgbClr val="A4A3A4"/>
          </p15:clr>
        </p15:guide>
        <p15:guide id="7" orient="horz" pos="3005">
          <p15:clr>
            <a:srgbClr val="A4A3A4"/>
          </p15:clr>
        </p15:guide>
        <p15:guide id="8" orient="horz" pos="1757">
          <p15:clr>
            <a:srgbClr val="A4A3A4"/>
          </p15:clr>
        </p15:guide>
        <p15:guide id="9" orient="horz" pos="542">
          <p15:clr>
            <a:srgbClr val="A4A3A4"/>
          </p15:clr>
        </p15:guide>
        <p15:guide id="10" orient="horz" pos="10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754" y="101"/>
      </p:cViewPr>
      <p:guideLst>
        <p:guide pos="5386"/>
        <p:guide pos="2098"/>
        <p:guide pos="2324"/>
        <p:guide pos="340"/>
        <p:guide pos="2977"/>
        <p:guide orient="horz" pos="737"/>
        <p:guide orient="horz" pos="3005"/>
        <p:guide orient="horz" pos="1757"/>
        <p:guide orient="horz" pos="542"/>
        <p:guide orient="horz" pos="10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71192460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71192460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08AFDF2B-8AEF-B068-6C0F-6FDEE149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>
            <a:extLst>
              <a:ext uri="{FF2B5EF4-FFF2-40B4-BE49-F238E27FC236}">
                <a16:creationId xmlns:a16="http://schemas.microsoft.com/office/drawing/2014/main" id="{7EBDF5CD-2F37-4E37-F272-18AF83EDDB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>
            <a:extLst>
              <a:ext uri="{FF2B5EF4-FFF2-40B4-BE49-F238E27FC236}">
                <a16:creationId xmlns:a16="http://schemas.microsoft.com/office/drawing/2014/main" id="{D84046AE-2F37-1713-408B-51CC62482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139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f6af15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f6af15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555611D2-0277-4863-7F75-A051ED65B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>
            <a:extLst>
              <a:ext uri="{FF2B5EF4-FFF2-40B4-BE49-F238E27FC236}">
                <a16:creationId xmlns:a16="http://schemas.microsoft.com/office/drawing/2014/main" id="{475492E9-22D7-661A-50A1-06207E4610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>
            <a:extLst>
              <a:ext uri="{FF2B5EF4-FFF2-40B4-BE49-F238E27FC236}">
                <a16:creationId xmlns:a16="http://schemas.microsoft.com/office/drawing/2014/main" id="{8A209E55-FF38-9A98-EC1B-9D078BD0E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0658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819DFB4C-AE1E-FDDA-8D79-BDFFDB87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>
            <a:extLst>
              <a:ext uri="{FF2B5EF4-FFF2-40B4-BE49-F238E27FC236}">
                <a16:creationId xmlns:a16="http://schemas.microsoft.com/office/drawing/2014/main" id="{98F1F854-FA0E-95F7-0DFE-4DD6ABA322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>
            <a:extLst>
              <a:ext uri="{FF2B5EF4-FFF2-40B4-BE49-F238E27FC236}">
                <a16:creationId xmlns:a16="http://schemas.microsoft.com/office/drawing/2014/main" id="{0DF581FD-A1EF-1B2E-D669-022270DA0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5629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9A327A09-9230-2F6E-AA1B-DD5CB44EB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>
            <a:extLst>
              <a:ext uri="{FF2B5EF4-FFF2-40B4-BE49-F238E27FC236}">
                <a16:creationId xmlns:a16="http://schemas.microsoft.com/office/drawing/2014/main" id="{ABD3133E-388A-32A5-1681-180AF4371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>
            <a:extLst>
              <a:ext uri="{FF2B5EF4-FFF2-40B4-BE49-F238E27FC236}">
                <a16:creationId xmlns:a16="http://schemas.microsoft.com/office/drawing/2014/main" id="{24A4A20D-6A80-B912-C4E8-9C2AE7E94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238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EB38E31B-526B-F622-43D0-2CFAC154B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>
            <a:extLst>
              <a:ext uri="{FF2B5EF4-FFF2-40B4-BE49-F238E27FC236}">
                <a16:creationId xmlns:a16="http://schemas.microsoft.com/office/drawing/2014/main" id="{3BBAB650-D289-DDE2-EF04-1C27CD6497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>
            <a:extLst>
              <a:ext uri="{FF2B5EF4-FFF2-40B4-BE49-F238E27FC236}">
                <a16:creationId xmlns:a16="http://schemas.microsoft.com/office/drawing/2014/main" id="{69245BF4-8901-6D48-BE49-4AC8963CD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770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l titolo 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Font typeface="Lekton"/>
              <a:buNone/>
              <a:defRPr sz="4200" b="1">
                <a:latin typeface="Lekton"/>
                <a:ea typeface="Lekton"/>
                <a:cs typeface="Lekton"/>
                <a:sym typeface="Lek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67500" y="3427050"/>
            <a:ext cx="7557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726825" y="257900"/>
            <a:ext cx="6957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1578700"/>
            <a:ext cx="8520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Lekton"/>
              <a:buNone/>
              <a:defRPr sz="3000" b="1"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250825" y="3032375"/>
            <a:ext cx="42984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33333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della sezione 1">
  <p:cSld name="SECTION_HEADER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61300" y="1594350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1250" y="3253963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8324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">
  <p:cSld name="SECTION_TITLE_AND_DESCRIPTION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D66B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">
  <p:cSld name="SECTION_TITLE_AND_DESCRIPTION_1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1175" y="-96750"/>
            <a:ext cx="9386000" cy="5293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">
  <p:cSld name="SECTION_TITLE_AND_DESCRIPTION_1_1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0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Google Shape;45;p10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2">
  <p:cSld name="SECTION_TITLE_AND_DESCRIPTION_1_1_1_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52250"/>
            <a:ext cx="9338651" cy="5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11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11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1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2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56;p12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C67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">
  <p:cSld name="SECTION_TITLE_AND_DESCRIPTION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0075"/>
            <a:ext cx="9354474" cy="52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3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2">
  <p:cSld name="CUSTOM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4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4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8F44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">
  <p:cSld name="SECTION_TITLE_AND_DESCRIPTION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0075" y="-87875"/>
            <a:ext cx="9370249" cy="52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4" name="Google Shape;74;p15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3">
  <p:cSld name="CUSTOM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6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22E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 1">
  <p:cSld name="SECTION_TITLE_AND_DESCRIPTION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8950"/>
            <a:ext cx="9417551" cy="53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85" name="Google Shape;85;p17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65814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None/>
              <a:defRPr b="1">
                <a:latin typeface="Lekton"/>
                <a:ea typeface="Lekton"/>
                <a:cs typeface="Lekton"/>
                <a:sym typeface="Lekton"/>
              </a:defRPr>
            </a:lvl1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66B55"/>
              </a:buClr>
              <a:buSzPts val="20000"/>
              <a:buFont typeface="Lekton"/>
              <a:buNone/>
              <a:defRPr sz="20000" b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2430575" y="2993300"/>
            <a:ext cx="42048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2"/>
          </p:nvPr>
        </p:nvSpPr>
        <p:spPr>
          <a:xfrm>
            <a:off x="2430575" y="3477850"/>
            <a:ext cx="4204800" cy="11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shishjangra27/geeksforgeeks-articl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help.medium.com/hc/en-us/articles/214874118-Using-RSS-feeds-of-profiles-publications-and-topic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/>
        </p:nvSpPr>
        <p:spPr>
          <a:xfrm>
            <a:off x="0" y="4340110"/>
            <a:ext cx="45849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latin typeface="Titillium Web"/>
                <a:ea typeface="Titillium Web"/>
                <a:cs typeface="Titillium Web"/>
                <a:sym typeface="Titillium Web"/>
              </a:rPr>
              <a:t>Student name: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Giorgio Evola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ID: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932861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e-mail address: </a:t>
            </a:r>
            <a:r>
              <a:rPr lang="en-US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g.evola2@campus.unimib.it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9" name="Google Shape;119;p23"/>
          <p:cNvSpPr txBox="1"/>
          <p:nvPr/>
        </p:nvSpPr>
        <p:spPr>
          <a:xfrm>
            <a:off x="1645427" y="562323"/>
            <a:ext cx="5503471" cy="24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chemeClr val="bg1"/>
                </a:solidFill>
                <a:latin typeface="Lekton"/>
                <a:ea typeface="Lekton"/>
                <a:cs typeface="Lekton"/>
                <a:sym typeface="Lekton"/>
              </a:rPr>
              <a:t> </a:t>
            </a:r>
            <a:r>
              <a:rPr lang="en-US" sz="4800" b="1" dirty="0">
                <a:solidFill>
                  <a:srgbClr val="D66B55"/>
                </a:solidFill>
                <a:latin typeface="Lekton"/>
                <a:sym typeface="Lekton"/>
              </a:rPr>
              <a:t>Data Management Project</a:t>
            </a:r>
            <a:endParaRPr sz="1800" b="1" dirty="0">
              <a:solidFill>
                <a:srgbClr val="D66B55"/>
              </a:solidFill>
              <a:latin typeface="Lekton"/>
              <a:sym typeface="Lekto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A154E-CB04-B3B1-CF55-BE9DF3742A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mtClean="0"/>
              <a:t>1</a:t>
            </a:fld>
            <a:endParaRPr lang="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B5289D76-4AC3-490F-2783-5FE7F29B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359F0ED8-FCB3-EEDB-5561-79F6F2D70256}"/>
              </a:ext>
            </a:extLst>
          </p:cNvPr>
          <p:cNvSpPr txBox="1"/>
          <p:nvPr/>
        </p:nvSpPr>
        <p:spPr>
          <a:xfrm>
            <a:off x="514879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Agenda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Description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Technologies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Architecture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Insights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Next steps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13DB20-451C-7FFE-477D-9E515BA0C3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mtClean="0"/>
              <a:t>2</a:t>
            </a:fld>
            <a:endParaRPr lang="it"/>
          </a:p>
        </p:txBody>
      </p:sp>
    </p:spTree>
    <p:extLst>
      <p:ext uri="{BB962C8B-B14F-4D97-AF65-F5344CB8AC3E}">
        <p14:creationId xmlns:p14="http://schemas.microsoft.com/office/powerpoint/2010/main" val="427866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/>
        </p:nvSpPr>
        <p:spPr>
          <a:xfrm>
            <a:off x="540000" y="384724"/>
            <a:ext cx="8010000" cy="4335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Article ETL Pipeline with DQ Validation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"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Objective: Production ETL pipeline integrating GFG csv + Medium RSS with comprehensive data quality validation</a:t>
            </a:r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Pipeline: Staging → Pandera Validation → Quarantine/Clean Split → Dimensional Loading</a:t>
            </a:r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Key Components:</a:t>
            </a:r>
          </a:p>
          <a:p>
            <a:pPr marL="285750" lvl="0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Multi-source ingestion (csv + RSS)</a:t>
            </a:r>
          </a:p>
          <a:p>
            <a:pPr marL="285750" lvl="0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Non-blocking DQ validation with error tracking</a:t>
            </a:r>
          </a:p>
          <a:p>
            <a:pPr marL="285750" lvl="0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Incremental processing with processed flags</a:t>
            </a:r>
          </a:p>
          <a:p>
            <a:pPr marL="285750" lvl="0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SQLite dimensional model (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dim_articles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)</a:t>
            </a:r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Outcomes: DQ metrics by source, quarantine analysis, validation effectiveness measurement</a:t>
            </a:r>
            <a:endParaRPr lang="en-US" dirty="0">
              <a:solidFill>
                <a:schemeClr val="tx1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999FC5-2B12-4316-E541-6E35D9F009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mtClean="0"/>
              <a:t>3</a:t>
            </a:fld>
            <a:endParaRPr lang="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/>
        </p:nvSpPr>
        <p:spPr>
          <a:xfrm>
            <a:off x="540000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List of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GeeksforGeeks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articles from Kaggle via CSV file 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(link 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  <a:hlinkClick r:id="rId3"/>
              </a:rPr>
              <a:t>https://www.kaggle.com/datasets/ashishjangra27/geeksforgeeks-articles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0"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RSS feed of articles published on the Medium.com website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(docs link 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  <a:hlinkClick r:id="rId4"/>
              </a:rPr>
              <a:t>https://help.medium.com/hc/en-us/articles/214874118-Using-RSS-feeds-of-profiles-publications-and-topics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)</a:t>
            </a:r>
          </a:p>
          <a:p>
            <a:pPr lvl="0"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RSS type used in the project: medium.com/feed/publication-name/tagged/[tag-name]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412A55-8342-A007-C404-DC764AB5DA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mtClean="0"/>
              <a:t>4</a:t>
            </a:fld>
            <a:endParaRPr lang="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1CDB930C-DBC3-B1EB-F2CB-9D47AAC8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15653D10-295F-1EEA-AA1D-1F8511B71662}"/>
              </a:ext>
            </a:extLst>
          </p:cNvPr>
          <p:cNvSpPr txBox="1"/>
          <p:nvPr/>
        </p:nvSpPr>
        <p:spPr>
          <a:xfrm>
            <a:off x="514879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Technologies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F52B2F-A3CD-38EE-1984-5E13688BEF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mtClean="0"/>
              <a:t>5</a:t>
            </a:fld>
            <a:endParaRPr lang="it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4194CC-BBF9-7887-7337-CC3779737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142072"/>
              </p:ext>
            </p:extLst>
          </p:nvPr>
        </p:nvGraphicFramePr>
        <p:xfrm>
          <a:off x="683287" y="1350491"/>
          <a:ext cx="7666894" cy="2560320"/>
        </p:xfrm>
        <a:graphic>
          <a:graphicData uri="http://schemas.openxmlformats.org/drawingml/2006/table">
            <a:tbl>
              <a:tblPr/>
              <a:tblGrid>
                <a:gridCol w="3833447">
                  <a:extLst>
                    <a:ext uri="{9D8B030D-6E8A-4147-A177-3AD203B41FA5}">
                      <a16:colId xmlns:a16="http://schemas.microsoft.com/office/drawing/2014/main" val="2685806516"/>
                    </a:ext>
                  </a:extLst>
                </a:gridCol>
                <a:gridCol w="3833447">
                  <a:extLst>
                    <a:ext uri="{9D8B030D-6E8A-4147-A177-3AD203B41FA5}">
                      <a16:colId xmlns:a16="http://schemas.microsoft.com/office/drawing/2014/main" val="2156261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Category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Tools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719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Language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Python 3.x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014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Data Processing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Pandas, JSON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478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Data Quality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Pandera (schema validation), Regex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916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Database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SQLite3, SQL (DDL/DML)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812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Architecture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400" b="0" i="0" u="none" strike="noStrike" cap="none" dirty="0" err="1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Modular</a:t>
                      </a:r>
                      <a:r>
                        <a:rPr lang="fr-FR" sz="1400" b="0" i="0" u="none" strike="noStrike" cap="none" dirty="0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 Python modules, Transaction management (ACID)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438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Web Scraping (optional)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BeautifulSoup4, Requests, </a:t>
                      </a:r>
                      <a:r>
                        <a:rPr lang="en-US" sz="1400" b="0" i="0" u="none" strike="noStrike" cap="none" dirty="0" err="1">
                          <a:solidFill>
                            <a:srgbClr val="333333"/>
                          </a:solidFill>
                          <a:latin typeface="Lekton"/>
                          <a:sym typeface="Arial"/>
                        </a:rPr>
                        <a:t>Feedparser</a:t>
                      </a:r>
                      <a:endParaRPr lang="en-US" sz="1400" b="0" i="0" u="none" strike="noStrike" cap="none" dirty="0">
                        <a:solidFill>
                          <a:srgbClr val="333333"/>
                        </a:solidFill>
                        <a:latin typeface="Lekton"/>
                        <a:sym typeface="Arial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761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941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8DE6C987-269B-355F-6DF0-7D43878B6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EFC43249-7BA4-8C71-9211-3CF7DF361926}"/>
              </a:ext>
            </a:extLst>
          </p:cNvPr>
          <p:cNvSpPr txBox="1"/>
          <p:nvPr/>
        </p:nvSpPr>
        <p:spPr>
          <a:xfrm>
            <a:off x="540000" y="384724"/>
            <a:ext cx="8010000" cy="283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Architecture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435CEA-AF75-28E3-7E10-83EEA6FD84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mtClean="0"/>
              <a:t>6</a:t>
            </a:fld>
            <a:endParaRPr lang="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D937CA-F1D9-7682-AA4B-06A4FB382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592" y="1230923"/>
            <a:ext cx="6088816" cy="275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9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98AF002B-BFF7-27E1-FA50-9036FFAD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24CDCDA8-C809-ACBA-5F76-BBB9C9D7EFBE}"/>
              </a:ext>
            </a:extLst>
          </p:cNvPr>
          <p:cNvSpPr txBox="1"/>
          <p:nvPr/>
        </p:nvSpPr>
        <p:spPr>
          <a:xfrm>
            <a:off x="514879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Insights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0" algn="l" rtl="0">
              <a:spcBef>
                <a:spcPts val="1000"/>
              </a:spcBef>
              <a:spcAft>
                <a:spcPts val="0"/>
              </a:spcAft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Source heterogeneity drives DQ complexity (structured HTML vs nested JSON)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Early validation saves downstream remediation costs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Non-blocking quarantine maintains throughput while isolating failures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Processed flags enable safe incremental loading and retry logic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Multi-source ID strategy unifies heterogeneous article identifiers</a:t>
            </a:r>
          </a:p>
          <a:p>
            <a:pPr marL="285750" lvl="3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Temporal tracking provides full audit trail (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created_at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updated_at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ingestion_timestamp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)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Modular architecture supports easy addition of new sources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Transaction management ensures data integrity at scale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35A169-EB30-0822-F305-2834C31A36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mtClean="0"/>
              <a:t>7</a:t>
            </a:fld>
            <a:endParaRPr lang="it"/>
          </a:p>
        </p:txBody>
      </p:sp>
    </p:spTree>
    <p:extLst>
      <p:ext uri="{BB962C8B-B14F-4D97-AF65-F5344CB8AC3E}">
        <p14:creationId xmlns:p14="http://schemas.microsoft.com/office/powerpoint/2010/main" val="3446841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5960DC67-CA4B-66B0-D0FE-F297B70F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75C08E44-C8B9-F073-3B2F-058B4F3E8ADD}"/>
              </a:ext>
            </a:extLst>
          </p:cNvPr>
          <p:cNvSpPr txBox="1"/>
          <p:nvPr/>
        </p:nvSpPr>
        <p:spPr>
          <a:xfrm>
            <a:off x="514879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Next steps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Web scraping for full article text and storage of unstructured data in NoSQL database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OpenAI/Anthropic API integration for automated summaries and utility article scoring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Development and integration of unit tests and integration tests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Real-time quality monitoring dashboard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Trend analytics and insights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692895-36EF-0633-EB32-5CFCCF405A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mtClean="0"/>
              <a:t>8</a:t>
            </a:fld>
            <a:endParaRPr lang="it"/>
          </a:p>
        </p:txBody>
      </p:sp>
    </p:spTree>
    <p:extLst>
      <p:ext uri="{BB962C8B-B14F-4D97-AF65-F5344CB8AC3E}">
        <p14:creationId xmlns:p14="http://schemas.microsoft.com/office/powerpoint/2010/main" val="270200329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369</Words>
  <Application>Microsoft Office PowerPoint</Application>
  <PresentationFormat>On-screen Show (16:9)</PresentationFormat>
  <Paragraphs>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Titillium Web</vt:lpstr>
      <vt:lpstr>Arial</vt:lpstr>
      <vt:lpstr>Lekton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Pitch Student  Individual Assignment</dc:title>
  <dc:creator>Giorgio Francesco Evola</dc:creator>
  <cp:lastModifiedBy>Giorgio Francesco Evola</cp:lastModifiedBy>
  <cp:revision>41</cp:revision>
  <dcterms:modified xsi:type="dcterms:W3CDTF">2026-02-10T17:56:33Z</dcterms:modified>
</cp:coreProperties>
</file>